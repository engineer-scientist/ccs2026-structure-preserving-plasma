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e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68" r:id="rId14"/>
    <p:sldId id="258" r:id="rId4"/>
    <p:sldId id="269" r:id="rId15"/>
    <p:sldId id="266" r:id="rId12"/>
    <p:sldId id="257" r:id="rId3"/>
    <p:sldId id="267" r:id="rId13"/>
    <p:sldId id="261" r:id="rId7"/>
    <p:sldId id="262" r:id="rId8"/>
    <p:sldId id="264" r:id="rId10"/>
    <p:sldId id="274" r:id="rId25"/>
    <p:sldId id="272" r:id="rId23"/>
    <p:sldId id="273" r:id="rId24"/>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3558080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Sarthak Sharma from the University at Buffalo, and this is joint work with Matthew Knepley. My message in the next twelve minutes: for long plasma simulations, preserving the structure of the physics matters more than per-step accuracy, and AI agents can write and verify such codes.</a:t>
            </a:r>
          </a:p>
          <a:p>
            <a:r>
              <a:rPr lang="en-US" dirty="0"/>
              <a:t>Source: /workspace/work.txt (abstract).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7860877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idea applies to fields. A magnetic field must stay divergence-free; a numerical monopole is unphysical. Constrained transport stores B on cell faces and updates it from a vector potential, so the discrete divergence is zero by construction. I implemented it on PETSc's DMSTAG staggered grid. On the left, the maximum of div B stays near 3e-24, which is round-off, while a cell-centred scheme jumps to about 5e-2. On the right, both converge at second order, so the exact constraint costs no accuracy. Caveat: this is two-dimensional kinematic induction with a prescribed flow, and the DMSTAG code has only run in serial.</a:t>
            </a:r>
          </a:p>
          <a:p>
            <a:r>
              <a:rPr lang="en-US" dirty="0"/>
              <a:t>Source: RESULTS.md section 2; figs/ct_divB_convergence.png.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579499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core problem. The classical fourth-order Runge-Kutta method, RK4, makes the local error per step very small, but it promises nothing about the invariants, so energy and momentum drift a little on every step. Structure-preserving methods take a different route. Symplectic and energy-preserving integrators, and constrained transport for the magnetic field, keep phase-space volume, energy, momentum and a divergence-free field at the discrete level, by design, not by luck or tiny timesteps. We implement these methods in the PETSc library. Let me show the difference on a real particle orbit.</a:t>
            </a:r>
          </a:p>
          <a:p>
            <a:r>
              <a:rPr lang="en-US" dirty="0"/>
              <a:t>Source: /workspace/work.txt (abstract).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215836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trust generated code? Every code must prove it conserves. Each generated program prints one VERIFY line with its energy drift, momentum drift, div B and a finiteness check, and each invariant has a tolerance. If a check fails, the code agent revises the code and runs it again. In our tests, Boris, TSDISCGRAD and the constrained-transport field all pass. RK4 fails, with a drift of 1.5e-2 against a tolerance of 1e-6, and TSBASICSYMPLECTIC in a magnetic field fails with non-finite values. One caveat: so far this check runs offline, not yet inside a full end-to-end agent loop.</a:t>
            </a:r>
          </a:p>
          <a:p>
            <a:r>
              <a:rPr lang="en-US" dirty="0"/>
              <a:t>Source: RESULTS.md section 4.</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3907035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an earlier result showing the pipeline can produce code that verifies. From the plain-language prompt “the Grad-Shafranov equilibrium for the plasma in a tokamak,” the agents wrote a PETSc solver on a structured DMDA grid with SNES. It compiled and ran as generated, and converges at second order against a manufactured solution; the figure shows its flux surfaces. The orchestrator also produced a converged version on an unstructured DMPlex mesh. Using exact Solov'ev solutions, we reproduced ITER-like, NSTX-like and diverted X-point equilibria, and the safety factor q agrees with the independent FreeGS code to within 0.2 percent.</a:t>
            </a:r>
          </a:p>
          <a:p>
            <a:r>
              <a:rPr lang="en-US" dirty="0"/>
              <a:t>Source: tokamak README; PLAN.md section 0.2.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4346269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kinetic side: particles instead of fluids. I ran PETSc's DMSwarm example ex2, a 1D-1V Vlasov-Poisson particle-in-cell code for Landau damping, with TSBASICSYMPLECTIC, on two ALCF machines, Aurora and Polaris. The electric field decays with a fitted rate of −0.161, against linear theory's −0.1533; a longer 6,000-step run gives −0.147, so we are within about five percent either way. The results are identical on both machines and at any rank count. Total energy changes by about one part in a hundred thousand over 600 steps. But that is not bounded, as the long runs on the next slide show.</a:t>
            </a:r>
          </a:p>
          <a:p>
            <a:r>
              <a:rPr lang="en-US" dirty="0"/>
              <a:t>Source: RESULTS.md section 3 and Phase 4 'Long-run Landau damping'.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295201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trap we found. PETSc's TSBASICSYMPLECTIC is symplectic, so you would expect it to behave like Boris. Instead, in a magnetic field it blows up in under 2,000 steps. The reason is a built-in assumption: it is designed for a separable Hamiltonian, H equals T of p plus V of q. The v cross B force breaks that separability, so the method is no longer symplectic. It still works well for electrostatic Vlasov-Poisson. Among the good methods there is a trade-off too: Boris preserves phase volume, while TSDISCGRAD conserves energy but not volume. The lesson: the method must match the Hamiltonian's structure.</a:t>
            </a:r>
          </a:p>
          <a:p>
            <a:r>
              <a:rPr lang="en-US" dirty="0"/>
              <a:t>Source: RESULTS.md section 1 (method table and takeaways).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1791443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part. We built a hierarchical multi-agent system that writes and checks these codes, following the three-layer design shown here, from McInnes and colleagues. A problem-definition layer takes the governing equations. An orchestrator agent keeps the workflow state and routes each task. Four specialists do the work: mathematical modeling, numerical analysis, HPC code generation and execution, and visualization and analysis. Each agent is an MCP server from the PETSc project's petsc_mcp_servers repository, grounded in PETSc documentation through retrieval-augmented generation. Three specialists run today; the visualization and analysis agent is still a design.</a:t>
            </a:r>
          </a:p>
          <a:p>
            <a:r>
              <a:rPr lang="en-US" dirty="0"/>
              <a:t>Source: /workspace/work.txt (abstract, Fig. 1: McInnes et al., 'Automated Problem-to-Solution Generation for PDE-Based Simulation Science'); PLAN.md section 0.1; gitlab.com/petsc/petsc_mcp_servers.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1429926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Plasma is a hard complex system for three reasons. It is nonlinear: the fields push the charged particles, and the particles generate the fields. It is multiscale: particles gyrate around field lines very fast, while the confinement times we care about are many orders of magnitude longer. And it is high-dimensional: a kinetic description lives in six-dimensional phase space. Together, that means one simulation needs a million timesteps or more. So a method can be very accurate on a single step and still fail, because a tiny leak of energy or momentum on every step piles up into an unphysical answer.</a:t>
            </a:r>
          </a:p>
          <a:p>
            <a:r>
              <a:rPr lang="en-US" dirty="0"/>
              <a:t>Source: /workspace/work.txt (abstract); RESULTS.md (10^6 steps per pusher run).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1991309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test is one charged particle in an analytic Solov'ev tokamak field, pushed for a million steps. The left panel is the energy error on a log scale. RK4, in red, is accurate per step, but its error grows steadily, to about 19 percent here and 52 percent in a uniform field. Boris, in blue, stays at round-off, around 1e-13. TSDISCGRAD, in orange, stays near 5e-10, set by its nonlinear solver tolerance. The canonical toroidal momentum on the right tells the same story, and the inset shows the orbits. Caveat: one particle, one passing orbit. The green curve is a surprise, and it is the next slide.</a:t>
            </a:r>
          </a:p>
          <a:p>
            <a:r>
              <a:rPr lang="en-US" dirty="0"/>
              <a:t>Source: RESULTS.md section 1 (Solov'ev table); figs/pusher_solovev.png, figs/pusher_solovev_orbit.png.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4898474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three takeaways. First, structure-preserving methods keep the invariants of the physics where RK4 slowly drifts; Boris stays bounded even over 10^8 steps. Second, those conservation checks are what make AI-generated simulation code verifiable: a generated solver either keeps its invariants or it is rejected. Third, we found and fixed a real scaling bottleneck, and ex2 now runs on 64 Aurora nodes. Next: energy-conserving PIC to remove the heating, GPU-resident particles, a full end-to-end agent loop, Aurora beyond 64 nodes, and 3D with finite-element exterior calculus. This work used an ALCF Director's Discretionary allocation on Aurora and Polaris. Thank you.</a:t>
            </a:r>
          </a:p>
          <a:p>
            <a:r>
              <a:rPr lang="en-US" dirty="0"/>
              <a:t>Source: RESULTS.md Phase 4 (weak scaling to 64 nodes; long-run Landau; pusher long runs). Contact: ss694@buffalo.edu.</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9468371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does it scale? In this weak-scaling test every MPI rank keeps the same work while the domain grows. At first, efficiency collapsed to about three percent. Profiling showed that the rank owning the periodic wrap-around cell sized its point-location hash over the whole domain, so it did up to 41 times the work of the others. A small local patch to ex2 fixed that and made a step 12 times faster at 16 Aurora nodes. After the fix, Aurora holds 75 percent at 16 nodes and 58 percent at 64 nodes, with 315 million particles, and Polaris holds 80 percent at 8 nodes. Caveats: 1D-1V, 100 steps, CPU only.</a:t>
            </a:r>
          </a:p>
          <a:p>
            <a:r>
              <a:rPr lang="en-US" dirty="0"/>
              <a:t>Source: RESULTS.md Phase 3 Steps A and B, Phase 4 'Weak scaling extended to 64 Aurora nodes'; phase4/data/phase4_analysis.json.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1464458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Weak scaling grows the problem with the machine. Strong scaling keeps one problem fixed, here 9.83 million particles for 100 steps, and asks how much faster it gets on more nodes. Aurora speeds up 4.63 times at 16 nodes, an efficiency of 0.29. The reason is simple: at 1,536 ranks each rank has only 32 cells left, so communication and fixed costs dominate. Polaris runs fewer ranks per node, keeps more work per rank, and reaches 5.38 times at 8 nodes, an efficiency of 0.67. So on Aurora this problem simply runs out of work per rank; larger problems are where it pays off.</a:t>
            </a:r>
          </a:p>
          <a:p>
            <a:r>
              <a:rPr lang="en-US" dirty="0"/>
              <a:t>Source: RESULTS.md Phase 4 'Strong scaling'; phase4/data/strong_scaling.csv; figs/strong_scaling.png.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204109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Conservation over long times is the whole point, so I ran longer. On the left, the pushers run 10^8 steps, a hundred times longer. Boris stays bounded, with an energy error of 1.2e-12, while RK4 drifts 28 percent, and 67 percent in a uniform field. The TSDISCGRAD run stalled, because solver failures kept shrinking its time step, so I make no 10^8 claim for it. On the right, the PIC code: the energy error is flat near 1e-4 until t of about 70, then grows to 4.4e-3 by t = 300. That is the known numerical heating of momentum-conserving PIC, and it is why energy-conserving PIC is my next step.</a:t>
            </a:r>
          </a:p>
          <a:p>
            <a:r>
              <a:rPr lang="en-US" dirty="0"/>
              <a:t>Source: RESULTS.md Phase 4 'Pusher long runs' and 'Long-run Landau damping'; figs/pusher_longrun.png, figs/landau_longrun.png.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9986328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0F0F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g1_s1_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G2c" Type="http://schemas.openxmlformats.org/officeDocument/2006/relationships/image" Target="../media/g2_ct_divB.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G3b" Type="http://schemas.openxmlformats.org/officeDocument/2006/relationships/image" Target="../media/g3_gs_flux_surfaces.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G4a" Type="http://schemas.openxmlformats.org/officeDocument/2006/relationships/image" Target="../media/g4_ex2_landau_energy.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G3a" Type="http://schemas.openxmlformats.org/officeDocument/2006/relationships/image" Target="../media/g3_genesis_multiagent.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G2a" Type="http://schemas.openxmlformats.org/officeDocument/2006/relationships/image" Target="../media/g2_pusher_solovev.png"/><Relationship Id="rIdG2b" Type="http://schemas.openxmlformats.org/officeDocument/2006/relationships/image" Target="../media/g2_pusher_orbit.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G4c" Type="http://schemas.openxmlformats.org/officeDocument/2006/relationships/image" Target="../media/g4_aurora.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G4b" Type="http://schemas.openxmlformats.org/officeDocument/2006/relationships/image" Target="../media/p4_weak_scaling_v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P4a" Type="http://schemas.openxmlformats.org/officeDocument/2006/relationships/image" Target="../media/p4_strong_scaling.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P4b" Type="http://schemas.openxmlformats.org/officeDocument/2006/relationships/image" Target="../media/p4_pusher_longrun.png"/><Relationship Id="rIdP4c" Type="http://schemas.openxmlformats.org/officeDocument/2006/relationships/image" Target="../media/p4_landau_longrun.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1463040"/>
            <a:ext cx="6400800" cy="1783080"/>
          </a:xfrm>
          <a:prstGeom prst="rect">
            <a:avLst/>
          </a:prstGeom>
          <a:noFill/>
          <a:ln/>
        </p:spPr>
        <p:txBody>
          <a:bodyPr wrap="square" rtlCol="0" anchor="t"/>
          <a:lstStyle/>
          <a:p>
            <a:pPr algn="l" indent="0" marL="0">
              <a:buNone/>
            </a:pPr>
            <a:r>
              <a:rPr lang="en-US" sz="3600" dirty="0">
                <a:solidFill>
                  <a:srgbClr val="03BA81"/>
                </a:solidFill>
                <a:latin typeface="Lexend" pitchFamily="34" charset="0"/>
                <a:ea typeface="Lexend" pitchFamily="34" charset="-122"/>
                <a:cs typeface="Lexend" pitchFamily="34" charset="-120"/>
              </a:rPr>
              <a:t>Generative AI </a:t>
            </a:r>
            <a:r>
              <a:rPr lang="en-US" sz="3600" dirty="0">
                <a:solidFill>
                  <a:srgbClr val="000000"/>
                </a:solidFill>
                <a:latin typeface="Lexend" pitchFamily="34" charset="0"/>
                <a:ea typeface="Lexend" pitchFamily="34" charset="-122"/>
                <a:cs typeface="Lexend" pitchFamily="34" charset="-120"/>
              </a:rPr>
              <a:t>for Scalable and Structure-Preserving Plasma Simulations</a:t>
            </a:r>
            <a:endParaRPr lang="en-US" sz="7200" dirty="0"/>
          </a:p>
        </p:txBody>
      </p:sp>
      <p:sp>
        <p:nvSpPr>
          <p:cNvPr id="3" name="Shape 1"/>
          <p:cNvSpPr/>
          <p:nvPr/>
        </p:nvSpPr>
        <p:spPr>
          <a:xfrm>
            <a:off x="548640" y="1234440"/>
            <a:ext cx="1463040" cy="109728"/>
          </a:xfrm>
          <a:prstGeom prst="roundRect">
            <a:avLst>
              <a:gd name="adj" fmla="val 50000"/>
            </a:avLst>
          </a:prstGeom>
          <a:solidFill>
            <a:srgbClr val="03BA81"/>
          </a:solidFill>
          <a:ln/>
        </p:spPr>
      </p:sp>
      <p:sp>
        <p:nvSpPr>
          <p:cNvPr id="4" name="Shape 2"/>
          <p:cNvSpPr/>
          <p:nvPr/>
        </p:nvSpPr>
        <p:spPr>
          <a:xfrm>
            <a:off x="6510528" y="0"/>
            <a:ext cx="5681167" cy="1547165"/>
          </a:xfrm>
          <a:prstGeom prst="rect">
            <a:avLst/>
          </a:prstGeom>
          <a:noFill/>
          <a:ln w="34925">
            <a:solidFill>
              <a:srgbClr val="D8D8D8">
                <a:alpha val="38000"/>
              </a:srgbClr>
            </a:solidFill>
            <a:prstDash val="solid"/>
          </a:ln>
        </p:spPr>
      </p:sp>
      <p:sp>
        <p:nvSpPr>
          <p:cNvPr id="5" name="Shape 3"/>
          <p:cNvSpPr/>
          <p:nvPr/>
        </p:nvSpPr>
        <p:spPr>
          <a:xfrm>
            <a:off x="0" y="5310835"/>
            <a:ext cx="5681167" cy="1547165"/>
          </a:xfrm>
          <a:prstGeom prst="rect">
            <a:avLst/>
          </a:prstGeom>
          <a:noFill/>
          <a:ln w="34925">
            <a:solidFill>
              <a:srgbClr val="D8D8D8">
                <a:alpha val="38000"/>
              </a:srgbClr>
            </a:solidFill>
            <a:prstDash val="solid"/>
          </a:ln>
        </p:spPr>
      </p:sp>
      <p:sp>
        <p:nvSpPr>
          <p:cNvPr id="6" name="Text 4"/>
          <p:cNvSpPr/>
          <p:nvPr/>
        </p:nvSpPr>
        <p:spPr>
          <a:xfrm>
            <a:off x="548640" y="566928"/>
            <a:ext cx="5852160" cy="411480"/>
          </a:xfrm>
          <a:prstGeom prst="rect">
            <a:avLst/>
          </a:prstGeom>
          <a:noFill/>
          <a:ln/>
        </p:spPr>
        <p:txBody>
          <a:bodyPr wrap="square" rtlCol="0" anchor="t"/>
          <a:lstStyle/>
          <a:p>
            <a:pPr algn="l" indent="0" marL="0">
              <a:lnSpc>
                <a:spcPct val="130000"/>
              </a:lnSpc>
              <a:buNone/>
            </a:pPr>
            <a:r>
              <a:rPr lang="en-US" sz="1400" dirty="0" b="1" spc="150">
                <a:solidFill>
                  <a:srgbClr val="03BA81"/>
                </a:solidFill>
                <a:latin typeface="Lexend" pitchFamily="34" charset="0"/>
                <a:ea typeface="Poppins" pitchFamily="34" charset="-122"/>
                <a:cs typeface="Poppins" pitchFamily="34" charset="-120"/>
              </a:rPr>
              <a:t>CONFERENCE ON COMPLEX SYSTEMS 2026</a:t>
            </a:r>
            <a:endParaRPr lang="en-US" sz="1200" dirty="0"/>
          </a:p>
        </p:txBody>
      </p:sp>
      <p:sp>
        <p:nvSpPr>
          <p:cNvPr id="7" name="Text 5"/>
          <p:cNvSpPr/>
          <p:nvPr/>
        </p:nvSpPr>
        <p:spPr>
          <a:xfrm>
            <a:off x="548640" y="3520440"/>
            <a:ext cx="6035040" cy="777240"/>
          </a:xfrm>
          <a:prstGeom prst="rect">
            <a:avLst/>
          </a:prstGeom>
          <a:noFill/>
          <a:ln/>
        </p:spPr>
        <p:txBody>
          <a:bodyPr wrap="square" rtlCol="0" anchor="t"/>
          <a:lstStyle/>
          <a:p>
            <a:pPr algn="l" indent="0" marL="0">
              <a:buNone/>
            </a:pPr>
            <a:r>
              <a:rPr lang="en-US" sz="2000" spc="0" kern="0" dirty="0">
                <a:solidFill>
                  <a:srgbClr val="787878"/>
                </a:solidFill>
                <a:latin typeface="Lexend" pitchFamily="34" charset="0"/>
                <a:ea typeface="Lexend" pitchFamily="34" charset="-122"/>
                <a:cs typeface="Lexend" pitchFamily="34" charset="-120"/>
              </a:rPr>
              <a:t>A Complex Systems Approach to Nuclear Fusion Energy</a:t>
            </a:r>
            <a:endParaRPr lang="en-US" sz="1400" dirty="0"/>
          </a:p>
        </p:txBody>
      </p:sp>
      <p:sp>
        <p:nvSpPr>
          <p:cNvPr id="9" name="Authors"/>
          <p:cNvSpPr/>
          <p:nvPr/>
        </p:nvSpPr>
        <p:spPr>
          <a:xfrm>
            <a:off x="548640" y="5440680"/>
            <a:ext cx="5029200" cy="1234440"/>
          </a:xfrm>
          <a:prstGeom prst="rect">
            <a:avLst/>
          </a:prstGeom>
          <a:noFill/>
          <a:ln/>
        </p:spPr>
        <p:txBody>
          <a:bodyPr wrap="square" rtlCol="0" anchor="t"/>
          <a:lstStyle/>
          <a:p>
            <a:pPr algn="l" indent="0" marL="0">
              <a:lnSpc>
                <a:spcPct val="115000"/>
              </a:lnSpc>
              <a:buNone/>
            </a:pPr>
            <a:r>
              <a:rPr lang="en-US" sz="2000" dirty="0" b="0" spc="0">
                <a:solidFill>
                  <a:srgbClr val="000000"/>
                </a:solidFill>
                <a:latin typeface="Lexend" pitchFamily="34" charset="0"/>
                <a:ea typeface="Poppins" pitchFamily="34" charset="-122"/>
                <a:cs typeface="Poppins" pitchFamily="34" charset="-120"/>
              </a:rPr>
              <a:t>Sarthak Sharma &amp; Matthew Knepley</a:t>
            </a:r>
            <a:br/>
            <a:r>
              <a:rPr lang="en-US" sz="1400" dirty="0" b="0" spc="0">
                <a:solidFill>
                  <a:srgbClr val="000000"/>
                </a:solidFill>
                <a:latin typeface="Poppins" pitchFamily="34" charset="0"/>
                <a:ea typeface="Poppins" pitchFamily="34" charset="-122"/>
                <a:cs typeface="Poppins" pitchFamily="34" charset="-120"/>
              </a:rPr>
              <a:t>University at Buffalo (SUNY)</a:t>
            </a:r>
            <a:br/>
            <a:r>
              <a:rPr lang="en-US" sz="1400" dirty="0" b="0" spc="0">
                <a:solidFill>
                  <a:srgbClr val="03BA81"/>
                </a:solidFill>
                <a:latin typeface="Poppins" pitchFamily="34" charset="0"/>
                <a:ea typeface="Poppins" pitchFamily="34" charset="-122"/>
                <a:cs typeface="Poppins" pitchFamily="34" charset="-120"/>
              </a:rPr>
              <a:t>ss694@buffalo.edu</a:t>
            </a:r>
            <a:endParaRPr lang="en-US" sz="1200" dirty="0"/>
          </a:p>
        </p:txBody>
      </p:sp>
      <p:pic>
        <p:nvPicPr>
          <p:cNvPr id="8" name="Tokamak" descr="tokamak_fields.jpg"/>
          <p:cNvPicPr>
            <a:picLocks noChangeAspect="1"/>
          </p:cNvPicPr>
          <p:nvPr/>
        </p:nvPicPr>
        <p:blipFill>
          <a:blip r:embed="rId3"/>
          <a:stretch>
            <a:fillRect/>
          </a:stretch>
        </p:blipFill>
        <p:spPr>
          <a:xfrm>
            <a:off x="6903720" y="1783080"/>
            <a:ext cx="4892040" cy="35838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6</a:t>
            </a:r>
          </a:p>
        </p:txBody>
      </p:sp>
      <p:sp>
        <p:nvSpPr>
          <p:cNvPr id="5" name="Text 3"/>
          <p:cNvSpPr/>
          <p:nvPr/>
        </p:nvSpPr>
        <p:spPr>
          <a:xfrm>
            <a:off x="637337" y="1000354"/>
            <a:ext cx="8821217" cy="769010"/>
          </a:xfrm>
          <a:prstGeom prst="rect">
            <a:avLst/>
          </a:prstGeom>
          <a:noFill/>
          <a:ln/>
        </p:spPr>
        <p:txBody>
          <a:bodyPr wrap="square" rtlCol="0" anchor="t"/>
          <a:lstStyle/>
          <a:p>
            <a:pPr algn="l" indent="0" marL="0">
              <a:buNone/>
            </a:pPr>
            <a:r>
              <a:rPr lang="en-US" sz="4400" dirty="0">
                <a:solidFill>
                  <a:srgbClr val="000000"/>
                </a:solidFill>
                <a:latin typeface="Lexend" pitchFamily="34" charset="0"/>
                <a:ea typeface="Lexend" pitchFamily="34" charset="-122"/>
                <a:cs typeface="Lexend" pitchFamily="34" charset="-120"/>
              </a:rPr>
              <a:t>div B = 0 </a:t>
            </a:r>
            <a:r>
              <a:rPr lang="en-US" sz="4400" dirty="0">
                <a:solidFill>
                  <a:srgbClr val="03BA81"/>
                </a:solidFill>
                <a:latin typeface="Lexend" pitchFamily="34" charset="0"/>
                <a:ea typeface="Lexend" pitchFamily="34" charset="-122"/>
                <a:cs typeface="Lexend" pitchFamily="34" charset="-120"/>
              </a:rPr>
              <a:t>at round-off</a:t>
            </a:r>
          </a:p>
        </p:txBody>
      </p:sp>
      <p:sp>
        <p:nvSpPr>
          <p:cNvPr id="8" name="Text 6"/>
          <p:cNvSpPr/>
          <p:nvPr/>
        </p:nvSpPr>
        <p:spPr>
          <a:xfrm>
            <a:off x="8366760" y="3337560"/>
            <a:ext cx="3520440" cy="868680"/>
          </a:xfrm>
          <a:prstGeom prst="rect">
            <a:avLst/>
          </a:prstGeom>
          <a:noFill/>
          <a:ln/>
        </p:spPr>
        <p:txBody>
          <a:bodyPr wrap="square" rtlCol="0" anchor="t"/>
          <a:lstStyle/>
          <a:p>
            <a:pPr algn="l" indent="0" marL="0">
              <a:lnSpc>
                <a:spcPct val="130000"/>
              </a:lnSpc>
              <a:buNone/>
            </a:pPr>
            <a:r>
              <a:rPr lang="en-US" sz="1600" dirty="0">
                <a:solidFill>
                  <a:srgbClr val="000000"/>
                </a:solidFill>
                <a:latin typeface="Poppins" pitchFamily="34" charset="0"/>
                <a:ea typeface="Poppins" pitchFamily="34" charset="-122"/>
                <a:cs typeface="Poppins" pitchFamily="34" charset="-120"/>
              </a:rPr>
              <a:t>max |div B|: </a:t>
            </a:r>
            <a:r>
              <a:rPr lang="en-US" sz="1600" dirty="0" b="1">
                <a:solidFill>
                  <a:srgbClr val="000000"/>
                </a:solidFill>
                <a:latin typeface="Poppins" pitchFamily="34" charset="0"/>
                <a:ea typeface="Poppins" pitchFamily="34" charset="-122"/>
                <a:cs typeface="Poppins" pitchFamily="34" charset="-120"/>
              </a:rPr>
              <a:t>3e-24</a:t>
            </a:r>
            <a:r>
              <a:rPr lang="en-US" sz="1600" dirty="0">
                <a:solidFill>
                  <a:srgbClr val="000000"/>
                </a:solidFill>
                <a:latin typeface="Poppins" pitchFamily="34" charset="0"/>
                <a:ea typeface="Poppins" pitchFamily="34" charset="-122"/>
                <a:cs typeface="Poppins" pitchFamily="34" charset="-120"/>
              </a:rPr>
              <a:t> with CT vs 5e-2 cell-centred</a:t>
            </a:r>
          </a:p>
        </p:txBody>
      </p:sp>
      <p:sp>
        <p:nvSpPr>
          <p:cNvPr id="9" name="Text 7"/>
          <p:cNvSpPr/>
          <p:nvPr/>
        </p:nvSpPr>
        <p:spPr>
          <a:xfrm>
            <a:off x="8366760" y="4297680"/>
            <a:ext cx="3520440" cy="868680"/>
          </a:xfrm>
          <a:prstGeom prst="rect">
            <a:avLst/>
          </a:prstGeom>
          <a:noFill/>
          <a:ln/>
        </p:spPr>
        <p:txBody>
          <a:bodyPr wrap="square" rtlCol="0" anchor="t"/>
          <a:lstStyle/>
          <a:p>
            <a:pPr algn="l" indent="0" marL="0">
              <a:lnSpc>
                <a:spcPct val="130000"/>
              </a:lnSpc>
              <a:buNone/>
            </a:pPr>
            <a:r>
              <a:rPr lang="en-US" sz="1600" dirty="0">
                <a:solidFill>
                  <a:srgbClr val="000000"/>
                </a:solidFill>
                <a:latin typeface="Poppins" pitchFamily="34" charset="0"/>
                <a:ea typeface="Poppins" pitchFamily="34" charset="-122"/>
                <a:cs typeface="Poppins" pitchFamily="34" charset="-120"/>
              </a:rPr>
              <a:t>Both 2nd order (p = 2.00): exact structure costs no accuracy</a:t>
            </a:r>
          </a:p>
        </p:txBody>
      </p:sp>
      <p:sp>
        <p:nvSpPr>
          <p:cNvPr id="10" name="Text 8"/>
          <p:cNvSpPr/>
          <p:nvPr/>
        </p:nvSpPr>
        <p:spPr>
          <a:xfrm>
            <a:off x="8366760" y="2331720"/>
            <a:ext cx="3520440" cy="731520"/>
          </a:xfrm>
          <a:prstGeom prst="rect">
            <a:avLst/>
          </a:prstGeom>
          <a:noFill/>
          <a:ln/>
        </p:spPr>
        <p:txBody>
          <a:bodyPr wrap="square" rtlCol="0" anchor="t"/>
          <a:lstStyle/>
          <a:p>
            <a:pPr algn="l" indent="0" marL="0">
              <a:buNone/>
            </a:pPr>
            <a:r>
              <a:rPr lang="en-US" sz="1800" dirty="0">
                <a:solidFill>
                  <a:srgbClr val="000000"/>
                </a:solidFill>
                <a:latin typeface="Lexend" pitchFamily="34" charset="0"/>
                <a:ea typeface="Lexend" pitchFamily="34" charset="-122"/>
                <a:cs typeface="Lexend" pitchFamily="34" charset="-120"/>
              </a:rPr>
              <a:t>Constrained transport on PETSc DMSTAG</a:t>
            </a:r>
          </a:p>
        </p:txBody>
      </p:sp>
      <p:sp>
        <p:nvSpPr>
          <p:cNvPr id="11" name="Shape 9"/>
          <p:cNvSpPr/>
          <p:nvPr/>
        </p:nvSpPr>
        <p:spPr>
          <a:xfrm>
            <a:off x="8412480" y="3154680"/>
            <a:ext cx="2590495" cy="0"/>
          </a:xfrm>
          <a:prstGeom prst="line">
            <a:avLst/>
          </a:prstGeom>
          <a:noFill/>
          <a:ln w="6350">
            <a:solidFill>
              <a:srgbClr val="000000"/>
            </a:solidFill>
            <a:prstDash val="solid"/>
          </a:ln>
        </p:spPr>
      </p:sp>
      <p:sp>
        <p:nvSpPr>
          <p:cNvPr id="12" name="Shape 10"/>
          <p:cNvSpPr/>
          <p:nvPr/>
        </p:nvSpPr>
        <p:spPr>
          <a:xfrm>
            <a:off x="3291840" y="903427"/>
            <a:ext cx="1273759" cy="102413"/>
          </a:xfrm>
          <a:prstGeom prst="roundRect">
            <a:avLst>
              <a:gd name="adj" fmla="val 50000"/>
            </a:avLst>
          </a:prstGeom>
          <a:solidFill>
            <a:srgbClr val="03BA81"/>
          </a:solidFill>
          <a:ln/>
        </p:spPr>
      </p:sp>
      <p:pic>
        <p:nvPicPr>
          <p:cNvPr id="100" name="Figure divB convergence"/>
          <p:cNvPicPr>
            <a:picLocks noChangeAspect="1"/>
          </p:cNvPicPr>
          <p:nvPr/>
        </p:nvPicPr>
        <p:blipFill>
          <a:blip r:embed="rIdG2c"/>
          <a:stretch>
            <a:fillRect/>
          </a:stretch>
        </p:blipFill>
        <p:spPr>
          <a:xfrm>
            <a:off x="411480" y="2240280"/>
            <a:ext cx="7680960" cy="2793492"/>
          </a:xfrm>
          <a:prstGeom prst="rect">
            <a:avLst/>
          </a:prstGeom>
          <a:solidFill>
            <a:srgbClr val="FFFFFF"/>
          </a:solidFill>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endParaRPr lang="en-US" sz="1200" dirty="0"/>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endParaRPr lang="en-US" sz="1200" dirty="0"/>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3</a:t>
            </a:r>
            <a:endParaRPr lang="en-US" sz="1200" dirty="0"/>
          </a:p>
        </p:txBody>
      </p:sp>
      <p:sp>
        <p:nvSpPr>
          <p:cNvPr id="5" name="Text 3"/>
          <p:cNvSpPr/>
          <p:nvPr/>
        </p:nvSpPr>
        <p:spPr>
          <a:xfrm>
            <a:off x="637337" y="1000354"/>
            <a:ext cx="8821217" cy="769010"/>
          </a:xfrm>
          <a:prstGeom prst="rect">
            <a:avLst/>
          </a:prstGeom>
          <a:noFill/>
          <a:ln/>
        </p:spPr>
        <p:txBody>
          <a:bodyPr wrap="square" rtlCol="0" anchor="t"/>
          <a:lstStyle/>
          <a:p>
            <a:pPr algn="l" indent="0" marL="0">
              <a:buNone/>
            </a:pPr>
            <a:r>
              <a:rPr lang="en-US" sz="4400" dirty="0">
                <a:solidFill>
                  <a:srgbClr val="03BA81"/>
                </a:solidFill>
                <a:latin typeface="Lexend" pitchFamily="34" charset="0"/>
                <a:ea typeface="Lexend" pitchFamily="34" charset="-122"/>
                <a:cs typeface="Lexend" pitchFamily="34" charset="-120"/>
              </a:rPr>
              <a:t>Conservation</a:t>
            </a:r>
            <a:r>
              <a:rPr lang="en-US" sz="4400" dirty="0">
                <a:solidFill>
                  <a:srgbClr val="000000"/>
                </a:solidFill>
                <a:latin typeface="Lexend" pitchFamily="34" charset="0"/>
                <a:ea typeface="Lexend" pitchFamily="34" charset="-122"/>
                <a:cs typeface="Lexend" pitchFamily="34" charset="-120"/>
              </a:rPr>
              <a:t> is the problem</a:t>
            </a:r>
            <a:endParaRPr lang="en-US" sz="4400" dirty="0"/>
          </a:p>
        </p:txBody>
      </p:sp>
      <p:sp>
        <p:nvSpPr>
          <p:cNvPr id="6" name="Shape 4"/>
          <p:cNvSpPr/>
          <p:nvPr/>
        </p:nvSpPr>
        <p:spPr>
          <a:xfrm>
            <a:off x="658368" y="880567"/>
            <a:ext cx="1273759" cy="102412"/>
          </a:xfrm>
          <a:prstGeom prst="roundRect">
            <a:avLst>
              <a:gd name="adj" fmla="val 50000"/>
            </a:avLst>
          </a:prstGeom>
          <a:solidFill>
            <a:srgbClr val="03BA81"/>
          </a:solidFill>
          <a:ln/>
        </p:spPr>
      </p:sp>
      <p:sp>
        <p:nvSpPr>
          <p:cNvPr id="7" name="Shape 5"/>
          <p:cNvSpPr/>
          <p:nvPr/>
        </p:nvSpPr>
        <p:spPr>
          <a:xfrm>
            <a:off x="2962656" y="2414016"/>
            <a:ext cx="4080967" cy="2213762"/>
          </a:xfrm>
          <a:prstGeom prst="roundRect">
            <a:avLst>
              <a:gd name="adj" fmla="val 6362"/>
            </a:avLst>
          </a:prstGeom>
          <a:solidFill>
            <a:srgbClr val="0F241F"/>
          </a:solidFill>
          <a:ln/>
        </p:spPr>
      </p:sp>
      <p:sp>
        <p:nvSpPr>
          <p:cNvPr id="8" name="Shape 6"/>
          <p:cNvSpPr/>
          <p:nvPr/>
        </p:nvSpPr>
        <p:spPr>
          <a:xfrm>
            <a:off x="7433158" y="3981298"/>
            <a:ext cx="4080967" cy="2213762"/>
          </a:xfrm>
          <a:prstGeom prst="roundRect">
            <a:avLst>
              <a:gd name="adj" fmla="val 6362"/>
            </a:avLst>
          </a:prstGeom>
          <a:solidFill>
            <a:srgbClr val="0F241F"/>
          </a:solidFill>
          <a:ln/>
        </p:spPr>
      </p:sp>
      <p:sp>
        <p:nvSpPr>
          <p:cNvPr id="9" name="Shape 7"/>
          <p:cNvSpPr/>
          <p:nvPr/>
        </p:nvSpPr>
        <p:spPr>
          <a:xfrm>
            <a:off x="0" y="2276856"/>
            <a:ext cx="637337" cy="3924605"/>
          </a:xfrm>
          <a:prstGeom prst="rect">
            <a:avLst/>
          </a:prstGeom>
          <a:noFill/>
          <a:ln w="34925">
            <a:solidFill>
              <a:srgbClr val="D8D8D8">
                <a:alpha val="38000"/>
              </a:srgbClr>
            </a:solidFill>
            <a:prstDash val="solid"/>
          </a:ln>
        </p:spPr>
      </p:sp>
      <p:sp>
        <p:nvSpPr>
          <p:cNvPr id="10" name="Shape 8"/>
          <p:cNvSpPr/>
          <p:nvPr/>
        </p:nvSpPr>
        <p:spPr>
          <a:xfrm>
            <a:off x="637337" y="2276856"/>
            <a:ext cx="3924605" cy="3924605"/>
          </a:xfrm>
          <a:prstGeom prst="chord">
            <a:avLst>
              <a:gd name="adj1" fmla="val 5421336"/>
              <a:gd name="adj2" fmla="val 16200000"/>
            </a:avLst>
          </a:prstGeom>
          <a:noFill/>
          <a:ln w="34925">
            <a:solidFill>
              <a:srgbClr val="D8D8D8">
                <a:alpha val="38000"/>
              </a:srgbClr>
            </a:solidFill>
            <a:prstDash val="solid"/>
          </a:ln>
        </p:spPr>
      </p:sp>
      <p:sp>
        <p:nvSpPr>
          <p:cNvPr id="11" name="Shape 9"/>
          <p:cNvSpPr/>
          <p:nvPr/>
        </p:nvSpPr>
        <p:spPr>
          <a:xfrm>
            <a:off x="3195828" y="4091026"/>
            <a:ext cx="3613709" cy="0"/>
          </a:xfrm>
          <a:prstGeom prst="line">
            <a:avLst/>
          </a:prstGeom>
          <a:noFill/>
          <a:ln w="6350">
            <a:solidFill>
              <a:srgbClr val="F0F0F0"/>
            </a:solidFill>
            <a:prstDash val="solid"/>
          </a:ln>
        </p:spPr>
      </p:sp>
      <p:sp>
        <p:nvSpPr>
          <p:cNvPr id="12" name="Text 10"/>
          <p:cNvSpPr/>
          <p:nvPr/>
        </p:nvSpPr>
        <p:spPr>
          <a:xfrm>
            <a:off x="3179368" y="4160520"/>
            <a:ext cx="3611880" cy="411480"/>
          </a:xfrm>
          <a:prstGeom prst="rect">
            <a:avLst/>
          </a:prstGeom>
          <a:noFill/>
          <a:ln/>
        </p:spPr>
        <p:txBody>
          <a:bodyPr wrap="square" rtlCol="0" anchor="t"/>
          <a:lstStyle/>
          <a:p>
            <a:pPr algn="l" indent="0" marL="0">
              <a:buNone/>
            </a:pPr>
            <a:r>
              <a:rPr lang="en-US" sz="1800" dirty="0">
                <a:solidFill>
                  <a:srgbClr val="F0F0F0"/>
                </a:solidFill>
                <a:latin typeface="Lexend" pitchFamily="34" charset="0"/>
                <a:ea typeface="Lexend" pitchFamily="34" charset="-122"/>
                <a:cs typeface="Lexend" pitchFamily="34" charset="-120"/>
              </a:rPr>
              <a:t>Standard (RK4)</a:t>
            </a:r>
            <a:endParaRPr lang="en-US" sz="1800" dirty="0"/>
          </a:p>
        </p:txBody>
      </p:sp>
      <p:sp>
        <p:nvSpPr>
          <p:cNvPr id="13" name="Shape 11"/>
          <p:cNvSpPr/>
          <p:nvPr/>
        </p:nvSpPr>
        <p:spPr>
          <a:xfrm>
            <a:off x="7674559" y="5638190"/>
            <a:ext cx="3613709" cy="0"/>
          </a:xfrm>
          <a:prstGeom prst="line">
            <a:avLst/>
          </a:prstGeom>
          <a:noFill/>
          <a:ln w="6350">
            <a:solidFill>
              <a:srgbClr val="F0F0F0"/>
            </a:solidFill>
            <a:prstDash val="solid"/>
          </a:ln>
        </p:spPr>
      </p:sp>
      <p:sp>
        <p:nvSpPr>
          <p:cNvPr id="14" name="Text 12"/>
          <p:cNvSpPr/>
          <p:nvPr/>
        </p:nvSpPr>
        <p:spPr>
          <a:xfrm>
            <a:off x="7659014" y="5707684"/>
            <a:ext cx="3611880" cy="411480"/>
          </a:xfrm>
          <a:prstGeom prst="rect">
            <a:avLst/>
          </a:prstGeom>
          <a:noFill/>
          <a:ln/>
        </p:spPr>
        <p:txBody>
          <a:bodyPr wrap="square" rtlCol="0" anchor="t"/>
          <a:lstStyle/>
          <a:p>
            <a:pPr algn="l" indent="0" marL="0">
              <a:buNone/>
            </a:pPr>
            <a:r>
              <a:rPr lang="en-US" sz="1800" dirty="0">
                <a:solidFill>
                  <a:srgbClr val="F0F0F0"/>
                </a:solidFill>
                <a:latin typeface="Lexend" pitchFamily="34" charset="0"/>
                <a:ea typeface="Lexend" pitchFamily="34" charset="-122"/>
                <a:cs typeface="Lexend" pitchFamily="34" charset="-120"/>
              </a:rPr>
              <a:t>Structure-preserving</a:t>
            </a:r>
            <a:endParaRPr lang="en-US" sz="1800" dirty="0"/>
          </a:p>
        </p:txBody>
      </p:sp>
      <p:sp>
        <p:nvSpPr>
          <p:cNvPr id="15" name="Text 13"/>
          <p:cNvSpPr/>
          <p:nvPr/>
        </p:nvSpPr>
        <p:spPr>
          <a:xfrm>
            <a:off x="3179368" y="2651760"/>
            <a:ext cx="3613708" cy="1325880"/>
          </a:xfrm>
          <a:prstGeom prst="rect">
            <a:avLst/>
          </a:prstGeom>
          <a:noFill/>
          <a:ln/>
        </p:spPr>
        <p:txBody>
          <a:bodyPr wrap="square" rtlCol="0" anchor="t"/>
          <a:lstStyle/>
          <a:p>
            <a:pPr algn="l" indent="0" marL="0">
              <a:lnSpc>
                <a:spcPct val="130000"/>
              </a:lnSpc>
              <a:buNone/>
            </a:pPr>
            <a:r>
              <a:rPr lang="en-US" sz="1800" dirty="0">
                <a:solidFill>
                  <a:srgbClr val="F0F0F0"/>
                </a:solidFill>
                <a:latin typeface="Poppins" pitchFamily="34" charset="0"/>
                <a:ea typeface="Poppins" pitchFamily="34" charset="-122"/>
                <a:cs typeface="Poppins" pitchFamily="34" charset="-120"/>
              </a:rPr>
              <a:t>Small local error, but invariants drift over millions of steps</a:t>
            </a:r>
            <a:endParaRPr lang="en-US" sz="1200" dirty="0"/>
          </a:p>
        </p:txBody>
      </p:sp>
      <p:sp>
        <p:nvSpPr>
          <p:cNvPr id="16" name="Text 14"/>
          <p:cNvSpPr/>
          <p:nvPr/>
        </p:nvSpPr>
        <p:spPr>
          <a:xfrm>
            <a:off x="7674559" y="4160520"/>
            <a:ext cx="3613708" cy="1371600"/>
          </a:xfrm>
          <a:prstGeom prst="rect">
            <a:avLst/>
          </a:prstGeom>
          <a:noFill/>
          <a:ln/>
        </p:spPr>
        <p:txBody>
          <a:bodyPr wrap="square" rtlCol="0" anchor="t"/>
          <a:lstStyle/>
          <a:p>
            <a:pPr algn="l" indent="0" marL="0">
              <a:lnSpc>
                <a:spcPct val="130000"/>
              </a:lnSpc>
              <a:buNone/>
            </a:pPr>
            <a:r>
              <a:rPr lang="en-US" sz="1600" dirty="0">
                <a:solidFill>
                  <a:srgbClr val="F0F0F0"/>
                </a:solidFill>
                <a:latin typeface="Poppins" pitchFamily="34" charset="0"/>
                <a:ea typeface="Poppins" pitchFamily="34" charset="-122"/>
                <a:cs typeface="Poppins" pitchFamily="34" charset="-120"/>
              </a:rPr>
              <a:t>Conserves energy, momentum, phase-space volume and div B = 0 by design</a:t>
            </a:r>
            <a:endParaRPr lang="en-US" sz="1200" dirty="0"/>
          </a:p>
        </p:txBody>
      </p:sp>
      <p:sp>
        <p:nvSpPr>
          <p:cNvPr id="17" name="Text 15"/>
          <p:cNvSpPr/>
          <p:nvPr/>
        </p:nvSpPr>
        <p:spPr>
          <a:xfrm>
            <a:off x="7433157" y="2514600"/>
            <a:ext cx="4023360" cy="1097280"/>
          </a:xfrm>
          <a:prstGeom prst="rect">
            <a:avLst/>
          </a:prstGeom>
          <a:noFill/>
          <a:ln/>
        </p:spPr>
        <p:txBody>
          <a:bodyPr wrap="square" rtlCol="0" anchor="t"/>
          <a:lstStyle/>
          <a:p>
            <a:pPr algn="l" indent="0" marL="0">
              <a:buNone/>
            </a:pPr>
            <a:r>
              <a:rPr lang="en-US" sz="2000" dirty="0">
                <a:solidFill>
                  <a:srgbClr val="000000"/>
                </a:solidFill>
                <a:latin typeface="Lexend" pitchFamily="34" charset="0"/>
                <a:ea typeface="Lexend" pitchFamily="34" charset="-122"/>
                <a:cs typeface="Lexend" pitchFamily="34" charset="-120"/>
              </a:rPr>
              <a:t>Accurate per step is not the same as physical</a:t>
            </a:r>
            <a:endParaRPr lang="en-US" sz="1600" dirty="0"/>
          </a:p>
        </p:txBody>
      </p:sp>
      <p:sp>
        <p:nvSpPr>
          <p:cNvPr id="18" name="Text 16"/>
          <p:cNvSpPr/>
          <p:nvPr/>
        </p:nvSpPr>
        <p:spPr>
          <a:xfrm>
            <a:off x="2962656" y="4892040"/>
            <a:ext cx="4078224" cy="822960"/>
          </a:xfrm>
          <a:prstGeom prst="rect">
            <a:avLst/>
          </a:prstGeom>
          <a:noFill/>
          <a:ln/>
        </p:spPr>
        <p:txBody>
          <a:bodyPr wrap="square" rtlCol="0" anchor="t"/>
          <a:lstStyle/>
          <a:p>
            <a:pPr algn="l" indent="0" marL="0">
              <a:buNone/>
            </a:pPr>
            <a:r>
              <a:rPr lang="en-US" sz="1800" dirty="0">
                <a:solidFill>
                  <a:srgbClr val="4A4A4A"/>
                </a:solidFill>
                <a:latin typeface="Lexend" pitchFamily="34" charset="0"/>
                <a:ea typeface="Lexend" pitchFamily="34" charset="-122"/>
                <a:cs typeface="Lexend" pitchFamily="34" charset="-120"/>
              </a:rPr>
              <a:t>Errors add up step after step</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8</a:t>
            </a:r>
          </a:p>
        </p:txBody>
      </p:sp>
      <p:sp>
        <p:nvSpPr>
          <p:cNvPr id="5" name="Text 3"/>
          <p:cNvSpPr/>
          <p:nvPr/>
        </p:nvSpPr>
        <p:spPr>
          <a:xfrm>
            <a:off x="6488582" y="1617574"/>
            <a:ext cx="5030114" cy="2123237"/>
          </a:xfrm>
          <a:prstGeom prst="rect">
            <a:avLst/>
          </a:prstGeom>
          <a:noFill/>
          <a:ln/>
        </p:spPr>
        <p:txBody>
          <a:bodyPr wrap="square" rtlCol="0" anchor="t"/>
          <a:lstStyle/>
          <a:p>
            <a:pPr algn="l" indent="0" marL="0">
              <a:buNone/>
            </a:pPr>
            <a:r>
              <a:rPr lang="en-US" sz="4000" dirty="0">
                <a:solidFill>
                  <a:srgbClr val="000000"/>
                </a:solidFill>
                <a:latin typeface="Lexend" pitchFamily="34" charset="0"/>
                <a:ea typeface="Lexend" pitchFamily="34" charset="-122"/>
                <a:cs typeface="Lexend" pitchFamily="34" charset="-120"/>
              </a:rPr>
              <a:t>Every code must </a:t>
            </a:r>
            <a:r>
              <a:rPr lang="en-US" sz="4000" dirty="0">
                <a:solidFill>
                  <a:srgbClr val="03BA81"/>
                </a:solidFill>
                <a:latin typeface="Lexend" pitchFamily="34" charset="0"/>
                <a:ea typeface="Lexend" pitchFamily="34" charset="-122"/>
                <a:cs typeface="Lexend" pitchFamily="34" charset="-120"/>
              </a:rPr>
              <a:t>prove it conserves</a:t>
            </a:r>
          </a:p>
        </p:txBody>
      </p:sp>
      <p:sp>
        <p:nvSpPr>
          <p:cNvPr id="6" name="Shape 4"/>
          <p:cNvSpPr/>
          <p:nvPr/>
        </p:nvSpPr>
        <p:spPr>
          <a:xfrm>
            <a:off x="7402982" y="-1255471"/>
            <a:ext cx="7082942" cy="2194560"/>
          </a:xfrm>
          <a:prstGeom prst="rect">
            <a:avLst/>
          </a:prstGeom>
          <a:noFill/>
          <a:ln w="34925">
            <a:solidFill>
              <a:srgbClr val="D8D8D8">
                <a:alpha val="38000"/>
              </a:srgbClr>
            </a:solidFill>
            <a:prstDash val="solid"/>
          </a:ln>
        </p:spPr>
      </p:sp>
      <p:sp>
        <p:nvSpPr>
          <p:cNvPr id="7" name="Shape 5"/>
          <p:cNvSpPr/>
          <p:nvPr/>
        </p:nvSpPr>
        <p:spPr>
          <a:xfrm>
            <a:off x="6606540" y="1515161"/>
            <a:ext cx="1273759" cy="102413"/>
          </a:xfrm>
          <a:prstGeom prst="roundRect">
            <a:avLst>
              <a:gd name="adj" fmla="val 50000"/>
            </a:avLst>
          </a:prstGeom>
          <a:solidFill>
            <a:srgbClr val="03BA81"/>
          </a:solidFill>
          <a:ln/>
        </p:spPr>
      </p:sp>
      <p:sp>
        <p:nvSpPr>
          <p:cNvPr id="8" name="Text 6"/>
          <p:cNvSpPr/>
          <p:nvPr/>
        </p:nvSpPr>
        <p:spPr>
          <a:xfrm>
            <a:off x="747979" y="3749040"/>
            <a:ext cx="2468880" cy="731520"/>
          </a:xfrm>
          <a:prstGeom prst="rect">
            <a:avLst/>
          </a:prstGeom>
          <a:noFill/>
          <a:ln/>
        </p:spPr>
        <p:txBody>
          <a:bodyPr wrap="square" rtlCol="0" anchor="t"/>
          <a:lstStyle/>
          <a:p>
            <a:pPr algn="l" indent="0" marL="0">
              <a:buNone/>
            </a:pPr>
            <a:r>
              <a:rPr lang="en-US" sz="4000" dirty="0">
                <a:solidFill>
                  <a:srgbClr val="03BA81"/>
                </a:solidFill>
                <a:latin typeface="Lexend" pitchFamily="34" charset="0"/>
                <a:ea typeface="Lexend" pitchFamily="34" charset="-122"/>
                <a:cs typeface="Lexend" pitchFamily="34" charset="-120"/>
              </a:rPr>
              <a:t>PASS</a:t>
            </a:r>
          </a:p>
        </p:txBody>
      </p:sp>
      <p:sp>
        <p:nvSpPr>
          <p:cNvPr id="9" name="Text 7"/>
          <p:cNvSpPr/>
          <p:nvPr/>
        </p:nvSpPr>
        <p:spPr>
          <a:xfrm>
            <a:off x="747979" y="4526280"/>
            <a:ext cx="2560320" cy="1371600"/>
          </a:xfrm>
          <a:prstGeom prst="rect">
            <a:avLst/>
          </a:prstGeom>
          <a:noFill/>
          <a:ln/>
        </p:spPr>
        <p:txBody>
          <a:bodyPr wrap="square" rtlCol="0" anchor="t"/>
          <a:lstStyle/>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Boris</a:t>
            </a:r>
          </a:p>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TSDISCGRAD</a:t>
            </a:r>
          </a:p>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CT field: div B 3e-24</a:t>
            </a:r>
          </a:p>
        </p:txBody>
      </p:sp>
      <p:sp>
        <p:nvSpPr>
          <p:cNvPr id="10" name="Text 8"/>
          <p:cNvSpPr/>
          <p:nvPr/>
        </p:nvSpPr>
        <p:spPr>
          <a:xfrm>
            <a:off x="3520440" y="3749040"/>
            <a:ext cx="2468880" cy="731520"/>
          </a:xfrm>
          <a:prstGeom prst="rect">
            <a:avLst/>
          </a:prstGeom>
          <a:noFill/>
          <a:ln/>
        </p:spPr>
        <p:txBody>
          <a:bodyPr wrap="square" rtlCol="0" anchor="t"/>
          <a:lstStyle/>
          <a:p>
            <a:pPr algn="l" indent="0" marL="0">
              <a:buNone/>
            </a:pPr>
            <a:r>
              <a:rPr lang="en-US" sz="4000" dirty="0">
                <a:solidFill>
                  <a:srgbClr val="000000"/>
                </a:solidFill>
                <a:latin typeface="Lexend" pitchFamily="34" charset="0"/>
                <a:ea typeface="Lexend" pitchFamily="34" charset="-122"/>
                <a:cs typeface="Lexend" pitchFamily="34" charset="-120"/>
              </a:rPr>
              <a:t>FAIL</a:t>
            </a:r>
          </a:p>
        </p:txBody>
      </p:sp>
      <p:sp>
        <p:nvSpPr>
          <p:cNvPr id="11" name="Text 9"/>
          <p:cNvSpPr/>
          <p:nvPr/>
        </p:nvSpPr>
        <p:spPr>
          <a:xfrm>
            <a:off x="3520440" y="4526280"/>
            <a:ext cx="2834640" cy="1463040"/>
          </a:xfrm>
          <a:prstGeom prst="rect">
            <a:avLst/>
          </a:prstGeom>
          <a:noFill/>
          <a:ln/>
        </p:spPr>
        <p:txBody>
          <a:bodyPr wrap="square" rtlCol="0" anchor="t"/>
          <a:lstStyle/>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RK4: drift 1.5e-2 &gt; 1e-6</a:t>
            </a:r>
          </a:p>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TSBASICSYMPLECTIC in a B field: non-finite</a:t>
            </a:r>
          </a:p>
        </p:txBody>
      </p:sp>
      <p:sp>
        <p:nvSpPr>
          <p:cNvPr id="12" name="Shape 10"/>
          <p:cNvSpPr/>
          <p:nvPr/>
        </p:nvSpPr>
        <p:spPr>
          <a:xfrm>
            <a:off x="705002" y="1515161"/>
            <a:ext cx="4937760" cy="1783080"/>
          </a:xfrm>
          <a:prstGeom prst="roundRect">
            <a:avLst>
              <a:gd name="adj" fmla="val 6362"/>
            </a:avLst>
          </a:prstGeom>
          <a:solidFill>
            <a:srgbClr val="0F241F"/>
          </a:solidFill>
          <a:ln/>
        </p:spPr>
      </p:sp>
      <p:sp>
        <p:nvSpPr>
          <p:cNvPr id="13" name="Shape 11"/>
          <p:cNvSpPr/>
          <p:nvPr/>
        </p:nvSpPr>
        <p:spPr>
          <a:xfrm>
            <a:off x="868680" y="2157984"/>
            <a:ext cx="4617720" cy="0"/>
          </a:xfrm>
          <a:prstGeom prst="line">
            <a:avLst/>
          </a:prstGeom>
          <a:noFill/>
          <a:ln w="6350">
            <a:solidFill>
              <a:srgbClr val="F0F0F0"/>
            </a:solidFill>
            <a:prstDash val="solid"/>
          </a:ln>
        </p:spPr>
      </p:sp>
      <p:sp>
        <p:nvSpPr>
          <p:cNvPr id="14" name="Text 12"/>
          <p:cNvSpPr/>
          <p:nvPr/>
        </p:nvSpPr>
        <p:spPr>
          <a:xfrm>
            <a:off x="868680" y="1700784"/>
            <a:ext cx="4480560" cy="365760"/>
          </a:xfrm>
          <a:prstGeom prst="rect">
            <a:avLst/>
          </a:prstGeom>
          <a:noFill/>
          <a:ln/>
        </p:spPr>
        <p:txBody>
          <a:bodyPr wrap="square" rtlCol="0" anchor="t"/>
          <a:lstStyle/>
          <a:p>
            <a:pPr algn="l" indent="0" marL="0">
              <a:buNone/>
            </a:pPr>
            <a:r>
              <a:rPr lang="en-US" sz="1600" dirty="0">
                <a:solidFill>
                  <a:srgbClr val="F0F0F0"/>
                </a:solidFill>
                <a:latin typeface="Lexend" pitchFamily="34" charset="0"/>
                <a:ea typeface="Lexend" pitchFamily="34" charset="-122"/>
                <a:cs typeface="Lexend" pitchFamily="34" charset="-120"/>
              </a:rPr>
              <a:t>Every generated code prints one line</a:t>
            </a:r>
          </a:p>
        </p:txBody>
      </p:sp>
      <p:sp>
        <p:nvSpPr>
          <p:cNvPr id="15" name="Text 13"/>
          <p:cNvSpPr/>
          <p:nvPr/>
        </p:nvSpPr>
        <p:spPr>
          <a:xfrm>
            <a:off x="868680" y="2331720"/>
            <a:ext cx="4617720" cy="822960"/>
          </a:xfrm>
          <a:prstGeom prst="rect">
            <a:avLst/>
          </a:prstGeom>
          <a:noFill/>
          <a:ln/>
        </p:spPr>
        <p:txBody>
          <a:bodyPr wrap="square" rtlCol="0" anchor="t"/>
          <a:lstStyle/>
          <a:p>
            <a:pPr algn="just" indent="0" marL="0">
              <a:lnSpc>
                <a:spcPct val="130000"/>
              </a:lnSpc>
              <a:buNone/>
            </a:pPr>
            <a:r>
              <a:rPr lang="en-US" sz="1600" dirty="0">
                <a:solidFill>
                  <a:srgbClr val="03BA81"/>
                </a:solidFill>
                <a:latin typeface="Poppins" pitchFamily="34" charset="0"/>
                <a:ea typeface="Poppins" pitchFamily="34" charset="-122"/>
                <a:cs typeface="Poppins" pitchFamily="34" charset="-120"/>
              </a:rPr>
              <a:t>VERIFY{ </a:t>
            </a:r>
            <a:r>
              <a:rPr lang="en-US" sz="1600" dirty="0">
                <a:solidFill>
                  <a:srgbClr val="F0F0F0"/>
                </a:solidFill>
                <a:latin typeface="Poppins" pitchFamily="34" charset="0"/>
                <a:ea typeface="Poppins" pitchFamily="34" charset="-122"/>
                <a:cs typeface="Poppins" pitchFamily="34" charset="-120"/>
              </a:rPr>
              <a:t>energy drift, momentum drift, div B, finite</a:t>
            </a:r>
            <a:r>
              <a:rPr lang="en-US" sz="1600" dirty="0">
                <a:solidFill>
                  <a:srgbClr val="03BA81"/>
                </a:solidFill>
                <a:latin typeface="Poppins" pitchFamily="34" charset="0"/>
                <a:ea typeface="Poppins" pitchFamily="34" charset="-122"/>
                <a:cs typeface="Poppins" pitchFamily="34" charset="-120"/>
              </a:rPr>
              <a:t> }</a:t>
            </a:r>
          </a:p>
        </p:txBody>
      </p:sp>
      <p:sp>
        <p:nvSpPr>
          <p:cNvPr id="301" name="G3 subline"/>
          <p:cNvSpPr/>
          <p:nvPr/>
        </p:nvSpPr>
        <p:spPr>
          <a:xfrm>
            <a:off x="6488582" y="3977640"/>
            <a:ext cx="5029200" cy="822960"/>
          </a:xfrm>
          <a:prstGeom prst="rect">
            <a:avLst/>
          </a:prstGeom>
          <a:noFill/>
          <a:ln/>
        </p:spPr>
        <p:txBody>
          <a:bodyPr wrap="square" rtlCol="0" anchor="t"/>
          <a:lstStyle/>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Each invariant has a tolerance. The code agent re-runs until the check passes.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9</a:t>
            </a:r>
          </a:p>
        </p:txBody>
      </p:sp>
      <p:sp>
        <p:nvSpPr>
          <p:cNvPr id="5" name="Text 3"/>
          <p:cNvSpPr/>
          <p:nvPr/>
        </p:nvSpPr>
        <p:spPr>
          <a:xfrm>
            <a:off x="735178" y="3063240"/>
            <a:ext cx="4892040" cy="2057400"/>
          </a:xfrm>
          <a:prstGeom prst="rect">
            <a:avLst/>
          </a:prstGeom>
          <a:noFill/>
          <a:ln/>
        </p:spPr>
        <p:txBody>
          <a:bodyPr wrap="square" rtlCol="0" anchor="t"/>
          <a:lstStyle/>
          <a:p>
            <a:pPr algn="l" indent="0" marL="0">
              <a:buNone/>
            </a:pPr>
            <a:r>
              <a:rPr lang="en-US" sz="4000" dirty="0">
                <a:solidFill>
                  <a:srgbClr val="03BA81"/>
                </a:solidFill>
                <a:latin typeface="Lexend" pitchFamily="34" charset="0"/>
                <a:ea typeface="Lexend" pitchFamily="34" charset="-122"/>
                <a:cs typeface="Lexend" pitchFamily="34" charset="-120"/>
              </a:rPr>
              <a:t>Agent-written </a:t>
            </a:r>
            <a:r>
              <a:rPr lang="en-US" sz="4000" dirty="0">
                <a:solidFill>
                  <a:srgbClr val="000000"/>
                </a:solidFill>
                <a:latin typeface="Lexend" pitchFamily="34" charset="0"/>
                <a:ea typeface="Lexend" pitchFamily="34" charset="-122"/>
                <a:cs typeface="Lexend" pitchFamily="34" charset="-120"/>
              </a:rPr>
              <a:t>solvers that verify</a:t>
            </a:r>
          </a:p>
        </p:txBody>
      </p:sp>
      <p:sp>
        <p:nvSpPr>
          <p:cNvPr id="6" name="Shape 4"/>
          <p:cNvSpPr/>
          <p:nvPr/>
        </p:nvSpPr>
        <p:spPr>
          <a:xfrm>
            <a:off x="868680" y="2926080"/>
            <a:ext cx="1273759" cy="102413"/>
          </a:xfrm>
          <a:prstGeom prst="roundRect">
            <a:avLst>
              <a:gd name="adj" fmla="val 50000"/>
            </a:avLst>
          </a:prstGeom>
          <a:solidFill>
            <a:srgbClr val="03BA81"/>
          </a:solidFill>
          <a:ln/>
        </p:spPr>
      </p:sp>
      <p:sp>
        <p:nvSpPr>
          <p:cNvPr id="7" name="Text 5"/>
          <p:cNvSpPr/>
          <p:nvPr/>
        </p:nvSpPr>
        <p:spPr>
          <a:xfrm>
            <a:off x="735178" y="5197450"/>
            <a:ext cx="4754880" cy="868680"/>
          </a:xfrm>
          <a:prstGeom prst="rect">
            <a:avLst/>
          </a:prstGeom>
          <a:noFill/>
          <a:ln/>
        </p:spPr>
        <p:txBody>
          <a:bodyPr wrap="square" rtlCol="0" anchor="t"/>
          <a:lstStyle/>
          <a:p>
            <a:pPr algn="l" indent="0" marL="0">
              <a:lnSpc>
                <a:spcPct val="130000"/>
              </a:lnSpc>
              <a:buNone/>
            </a:pPr>
            <a:r>
              <a:rPr lang="en-US" sz="1400" dirty="0">
                <a:solidFill>
                  <a:srgbClr val="000000"/>
                </a:solidFill>
                <a:latin typeface="Poppins" pitchFamily="34" charset="0"/>
                <a:ea typeface="Poppins" pitchFamily="34" charset="-122"/>
                <a:cs typeface="Poppins" pitchFamily="34" charset="-120"/>
              </a:rPr>
              <a:t>Grad-Shafranov from a plain-language prompt: 2nd-order PETSc solver (p = 2.00)</a:t>
            </a:r>
          </a:p>
        </p:txBody>
      </p:sp>
      <p:sp>
        <p:nvSpPr>
          <p:cNvPr id="8" name="Shape 6"/>
          <p:cNvSpPr/>
          <p:nvPr/>
        </p:nvSpPr>
        <p:spPr>
          <a:xfrm>
            <a:off x="0" y="-655625"/>
            <a:ext cx="3198571" cy="3650285"/>
          </a:xfrm>
          <a:prstGeom prst="rect">
            <a:avLst/>
          </a:prstGeom>
          <a:noFill/>
          <a:ln w="34925">
            <a:solidFill>
              <a:srgbClr val="D8D8D8">
                <a:alpha val="38000"/>
              </a:srgbClr>
            </a:solidFill>
            <a:prstDash val="solid"/>
          </a:ln>
        </p:spPr>
      </p:sp>
      <p:sp>
        <p:nvSpPr>
          <p:cNvPr id="9" name="Shape 7"/>
          <p:cNvSpPr/>
          <p:nvPr/>
        </p:nvSpPr>
        <p:spPr>
          <a:xfrm>
            <a:off x="3198571" y="-655625"/>
            <a:ext cx="3650285" cy="3650285"/>
          </a:xfrm>
          <a:prstGeom prst="chord">
            <a:avLst>
              <a:gd name="adj1" fmla="val 5421336"/>
              <a:gd name="adj2" fmla="val 16200000"/>
            </a:avLst>
          </a:prstGeom>
          <a:noFill/>
          <a:ln w="34925">
            <a:solidFill>
              <a:srgbClr val="D8D8D8">
                <a:alpha val="38000"/>
              </a:srgbClr>
            </a:solidFill>
            <a:prstDash val="solid"/>
          </a:ln>
        </p:spPr>
      </p:sp>
      <p:sp>
        <p:nvSpPr>
          <p:cNvPr id="10" name="Shape 8"/>
          <p:cNvSpPr/>
          <p:nvPr/>
        </p:nvSpPr>
        <p:spPr>
          <a:xfrm>
            <a:off x="5695798" y="4981651"/>
            <a:ext cx="0" cy="886054"/>
          </a:xfrm>
          <a:prstGeom prst="line">
            <a:avLst/>
          </a:prstGeom>
          <a:noFill/>
          <a:ln w="6350">
            <a:solidFill>
              <a:srgbClr val="000000"/>
            </a:solidFill>
            <a:prstDash val="solid"/>
          </a:ln>
        </p:spPr>
      </p:sp>
      <p:sp>
        <p:nvSpPr>
          <p:cNvPr id="11" name="Text 9"/>
          <p:cNvSpPr/>
          <p:nvPr/>
        </p:nvSpPr>
        <p:spPr>
          <a:xfrm>
            <a:off x="8366760" y="4983480"/>
            <a:ext cx="3383280" cy="365760"/>
          </a:xfrm>
          <a:prstGeom prst="rect">
            <a:avLst/>
          </a:prstGeom>
          <a:noFill/>
          <a:ln/>
        </p:spPr>
        <p:txBody>
          <a:bodyPr wrap="square" rtlCol="0" anchor="t"/>
          <a:lstStyle/>
          <a:p>
            <a:pPr algn="l" indent="0" marL="0">
              <a:buNone/>
            </a:pPr>
            <a:r>
              <a:rPr lang="en-US" sz="1600" dirty="0">
                <a:solidFill>
                  <a:srgbClr val="000000"/>
                </a:solidFill>
                <a:latin typeface="Lexend" pitchFamily="34" charset="0"/>
                <a:ea typeface="Lexend" pitchFamily="34" charset="-122"/>
                <a:cs typeface="Lexend" pitchFamily="34" charset="-120"/>
              </a:rPr>
              <a:t>Safety factor q vs FreeGS</a:t>
            </a:r>
          </a:p>
        </p:txBody>
      </p:sp>
      <p:sp>
        <p:nvSpPr>
          <p:cNvPr id="12" name="Text 10"/>
          <p:cNvSpPr/>
          <p:nvPr/>
        </p:nvSpPr>
        <p:spPr>
          <a:xfrm>
            <a:off x="8366760" y="5349240"/>
            <a:ext cx="3383280" cy="640080"/>
          </a:xfrm>
          <a:prstGeom prst="rect">
            <a:avLst/>
          </a:prstGeom>
          <a:noFill/>
          <a:ln/>
        </p:spPr>
        <p:txBody>
          <a:bodyPr wrap="square" rtlCol="0" anchor="t"/>
          <a:lstStyle/>
          <a:p>
            <a:pPr algn="l" indent="0" marL="0">
              <a:lnSpc>
                <a:spcPct val="130000"/>
              </a:lnSpc>
              <a:buNone/>
            </a:pPr>
            <a:r>
              <a:rPr lang="en-US" sz="1400" dirty="0">
                <a:solidFill>
                  <a:srgbClr val="000000"/>
                </a:solidFill>
                <a:latin typeface="Poppins" pitchFamily="34" charset="0"/>
                <a:ea typeface="Poppins" pitchFamily="34" charset="-122"/>
                <a:cs typeface="Poppins" pitchFamily="34" charset="-120"/>
              </a:rPr>
              <a:t>ITER-like, NSTX-like and X-point shaped equilibria</a:t>
            </a:r>
          </a:p>
        </p:txBody>
      </p:sp>
      <p:sp>
        <p:nvSpPr>
          <p:cNvPr id="13" name="Text 11"/>
          <p:cNvSpPr/>
          <p:nvPr/>
        </p:nvSpPr>
        <p:spPr>
          <a:xfrm>
            <a:off x="5888736" y="4846320"/>
            <a:ext cx="2286000" cy="1097280"/>
          </a:xfrm>
          <a:prstGeom prst="rect">
            <a:avLst/>
          </a:prstGeom>
          <a:noFill/>
          <a:ln/>
        </p:spPr>
        <p:txBody>
          <a:bodyPr wrap="square" rtlCol="0" anchor="t"/>
          <a:lstStyle/>
          <a:p>
            <a:pPr algn="l" indent="0" marL="0">
              <a:buNone/>
            </a:pPr>
            <a:r>
              <a:rPr lang="en-US" sz="6000" dirty="0">
                <a:solidFill>
                  <a:srgbClr val="03BA81"/>
                </a:solidFill>
                <a:latin typeface="Lexend" pitchFamily="34" charset="0"/>
                <a:ea typeface="Lexend" pitchFamily="34" charset="-122"/>
                <a:cs typeface="Lexend" pitchFamily="34" charset="-120"/>
              </a:rPr>
              <a:t>0.2%</a:t>
            </a:r>
          </a:p>
        </p:txBody>
      </p:sp>
      <p:sp>
        <p:nvSpPr>
          <p:cNvPr id="302" name="G3 caption"/>
          <p:cNvSpPr/>
          <p:nvPr/>
        </p:nvSpPr>
        <p:spPr>
          <a:xfrm>
            <a:off x="8366760" y="4498848"/>
            <a:ext cx="3383280" cy="274320"/>
          </a:xfrm>
          <a:prstGeom prst="rect">
            <a:avLst/>
          </a:prstGeom>
          <a:noFill/>
          <a:ln/>
        </p:spPr>
        <p:txBody>
          <a:bodyPr wrap="square" rtlCol="0" anchor="t"/>
          <a:lstStyle/>
          <a:p>
            <a:pPr algn="l" indent="0" marL="0">
              <a:lnSpc>
                <a:spcPct val="130000"/>
              </a:lnSpc>
              <a:buNone/>
            </a:pPr>
            <a:r>
              <a:rPr lang="en-US" sz="1000" dirty="0">
                <a:solidFill>
                  <a:srgbClr val="595959"/>
                </a:solidFill>
                <a:latin typeface="Poppins" pitchFamily="34" charset="0"/>
                <a:ea typeface="Poppins" pitchFamily="34" charset="-122"/>
                <a:cs typeface="Poppins" pitchFamily="34" charset="-120"/>
              </a:rPr>
              <a:t>Flux surfaces, agent-generated DMDA+SNES solver</a:t>
            </a:r>
          </a:p>
        </p:txBody>
      </p:sp>
      <p:pic>
        <p:nvPicPr>
          <p:cNvPr id="303" name="Grad-Shafranov flux surfaces" descr="Poloidal flux surfaces of the verified agent-generated Grad-Shafranov solution"/>
          <p:cNvPicPr>
            <a:picLocks noChangeAspect="1"/>
          </p:cNvPicPr>
          <p:nvPr/>
        </p:nvPicPr>
        <p:blipFill>
          <a:blip r:embed="rIdG3b"/>
          <a:stretch>
            <a:fillRect/>
          </a:stretch>
        </p:blipFill>
        <p:spPr>
          <a:xfrm>
            <a:off x="8366760" y="548640"/>
            <a:ext cx="3370217" cy="39319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algn="l">
              <a:buNone/>
            </a:pPr>
            <a:r>
              <a:rPr lang="en-US" sz="1200" dirty="0">
                <a:solidFill>
                  <a:srgbClr val="000000"/>
                </a:solidFill>
                <a:latin typeface="Lexend"/>
                <a:cs typeface="Lexend"/>
              </a:rPr>
              <a:t>CCS 2026 · Sharma &amp; Knepley</a:t>
            </a:r>
            <a:endParaRPr lang="en-US" sz="1200"/>
          </a:p>
        </p:txBody>
      </p:sp>
      <p:sp>
        <p:nvSpPr>
          <p:cNvPr id="3" name="Text 1"/>
          <p:cNvSpPr/>
          <p:nvPr/>
        </p:nvSpPr>
        <p:spPr>
          <a:xfrm>
            <a:off x="394106" y="6320333"/>
            <a:ext cx="5486400" cy="312725"/>
          </a:xfrm>
          <a:prstGeom prst="rect">
            <a:avLst/>
          </a:prstGeom>
          <a:noFill/>
          <a:ln/>
        </p:spPr>
        <p:txBody>
          <a:bodyPr wrap="square" rtlCol="0" anchor="t"/>
          <a:lstStyle/>
          <a:p>
            <a:pPr algn="l">
              <a:buNone/>
            </a:pPr>
            <a:r>
              <a:rPr lang="en-US" sz="1200" dirty="0">
                <a:solidFill>
                  <a:srgbClr val="000000"/>
                </a:solidFill>
                <a:latin typeface="Poppins"/>
                <a:cs typeface="Poppins"/>
              </a:rPr>
              <a:t>University at Buffalo (SUNY)</a:t>
            </a:r>
            <a:endParaRPr lang="en-US" sz="1200"/>
          </a:p>
        </p:txBody>
      </p:sp>
      <p:sp>
        <p:nvSpPr>
          <p:cNvPr id="4" name="Text 2"/>
          <p:cNvSpPr/>
          <p:nvPr/>
        </p:nvSpPr>
        <p:spPr>
          <a:xfrm>
            <a:off x="8876995" y="6320333"/>
            <a:ext cx="2920594" cy="312725"/>
          </a:xfrm>
          <a:prstGeom prst="rect">
            <a:avLst/>
          </a:prstGeom>
          <a:noFill/>
          <a:ln/>
        </p:spPr>
        <p:txBody>
          <a:bodyPr wrap="square" rtlCol="0" anchor="t"/>
          <a:lstStyle/>
          <a:p>
            <a:pPr algn="r">
              <a:buNone/>
            </a:pPr>
            <a:r>
              <a:rPr lang="en-US" sz="1200" dirty="0">
                <a:solidFill>
                  <a:srgbClr val="000000"/>
                </a:solidFill>
                <a:latin typeface="Poppins"/>
                <a:cs typeface="Poppins"/>
              </a:rPr>
              <a:t>10</a:t>
            </a:r>
            <a:endParaRPr lang="en-US" sz="1200"/>
          </a:p>
        </p:txBody>
      </p:sp>
      <p:sp>
        <p:nvSpPr>
          <p:cNvPr id="7" name="Text 5"/>
          <p:cNvSpPr/>
          <p:nvPr/>
        </p:nvSpPr>
        <p:spPr>
          <a:xfrm>
            <a:off x="4572000" y="896112"/>
            <a:ext cx="7223760" cy="1463040"/>
          </a:xfrm>
          <a:prstGeom prst="rect">
            <a:avLst/>
          </a:prstGeom>
          <a:noFill/>
          <a:ln/>
        </p:spPr>
        <p:txBody>
          <a:bodyPr wrap="square" rtlCol="0" anchor="t"/>
          <a:lstStyle/>
          <a:p>
            <a:pPr algn="l">
              <a:buNone/>
            </a:pPr>
            <a:r>
              <a:rPr lang="en-US" sz="4000" dirty="0">
                <a:solidFill>
                  <a:srgbClr val="03BA81"/>
                </a:solidFill>
                <a:latin typeface="Lexend"/>
                <a:cs typeface="Lexend"/>
              </a:rPr>
              <a:t>Kinetic plasma on</a:t>
            </a:r>
            <a:endParaRPr lang="en-US" sz="4000"/>
          </a:p>
          <a:p>
            <a:pPr algn="l">
              <a:buNone/>
            </a:pPr>
            <a:r>
              <a:rPr lang="en-US" sz="4000" dirty="0">
                <a:solidFill>
                  <a:srgbClr val="000000"/>
                </a:solidFill>
                <a:latin typeface="Lexend"/>
                <a:cs typeface="Lexend"/>
              </a:rPr>
              <a:t>Aurora &amp; Polaris</a:t>
            </a:r>
            <a:endParaRPr lang="en-US" sz="4000"/>
          </a:p>
        </p:txBody>
      </p:sp>
      <p:sp>
        <p:nvSpPr>
          <p:cNvPr id="16" name="Text 14"/>
          <p:cNvSpPr/>
          <p:nvPr/>
        </p:nvSpPr>
        <p:spPr>
          <a:xfrm>
            <a:off x="4572000" y="5257800"/>
            <a:ext cx="7223760" cy="548640"/>
          </a:xfrm>
          <a:prstGeom prst="rect">
            <a:avLst/>
          </a:prstGeom>
          <a:noFill/>
          <a:ln/>
        </p:spPr>
        <p:txBody>
          <a:bodyPr wrap="square" rtlCol="0" anchor="t"/>
          <a:lstStyle/>
          <a:p>
            <a:pPr algn="l">
              <a:buNone/>
            </a:pPr>
            <a:r>
              <a:rPr lang="en-US" sz="1200" dirty="0">
                <a:solidFill>
                  <a:srgbClr val="404040"/>
                </a:solidFill>
                <a:latin typeface="Poppins"/>
                <a:cs typeface="Poppins"/>
              </a:rPr>
              <a:t>Landau damping, 1D-1V Vlasov–Poisson · PETSc DMSwarm + TSBASICSYMPLECTIC · 600 steps</a:t>
            </a:r>
            <a:endParaRPr lang="en-US" sz="1200"/>
          </a:p>
        </p:txBody>
      </p:sp>
      <p:sp>
        <p:nvSpPr>
          <p:cNvPr id="29" name="Text 27"/>
          <p:cNvSpPr/>
          <p:nvPr/>
        </p:nvSpPr>
        <p:spPr>
          <a:xfrm>
            <a:off x="502920" y="1143000"/>
            <a:ext cx="3977640" cy="457200"/>
          </a:xfrm>
          <a:prstGeom prst="rect">
            <a:avLst/>
          </a:prstGeom>
          <a:noFill/>
          <a:ln/>
        </p:spPr>
        <p:txBody>
          <a:bodyPr wrap="square" rtlCol="0" anchor="t"/>
          <a:lstStyle/>
          <a:p>
            <a:pPr algn="l">
              <a:buNone/>
            </a:pPr>
            <a:r>
              <a:rPr lang="en-US" sz="2200" dirty="0">
                <a:solidFill>
                  <a:srgbClr val="03BA81"/>
                </a:solidFill>
                <a:latin typeface="Lexend"/>
                <a:cs typeface="Lexend"/>
              </a:rPr>
              <a:t>01   </a:t>
            </a:r>
            <a:r>
              <a:rPr lang="en-US" sz="2200" dirty="0">
                <a:solidFill>
                  <a:srgbClr val="000000"/>
                </a:solidFill>
                <a:latin typeface="Lexend"/>
                <a:cs typeface="Lexend"/>
              </a:rPr>
              <a:t>γ = −0.161</a:t>
            </a:r>
            <a:endParaRPr lang="en-US" sz="2200"/>
          </a:p>
        </p:txBody>
      </p:sp>
      <p:sp>
        <p:nvSpPr>
          <p:cNvPr id="30" name="Text 28"/>
          <p:cNvSpPr/>
          <p:nvPr/>
        </p:nvSpPr>
        <p:spPr>
          <a:xfrm>
            <a:off x="502920" y="1645920"/>
            <a:ext cx="3749040" cy="868680"/>
          </a:xfrm>
          <a:prstGeom prst="rect">
            <a:avLst/>
          </a:prstGeom>
          <a:noFill/>
          <a:ln/>
        </p:spPr>
        <p:txBody>
          <a:bodyPr wrap="square" rtlCol="0" anchor="t"/>
          <a:lstStyle/>
          <a:p>
            <a:pPr algn="l">
              <a:buNone/>
            </a:pPr>
            <a:r>
              <a:rPr lang="en-US" sz="1500" dirty="0">
                <a:solidFill>
                  <a:srgbClr val="000000"/>
                </a:solidFill>
                <a:latin typeface="Poppins"/>
                <a:cs typeface="Poppins"/>
              </a:rPr>
              <a:t>Fitted damping rate; linear theory −0.1533</a:t>
            </a:r>
            <a:endParaRPr lang="en-US" sz="1500"/>
          </a:p>
        </p:txBody>
      </p:sp>
      <p:sp>
        <p:nvSpPr>
          <p:cNvPr id="50" name="Text 48"/>
          <p:cNvSpPr/>
          <p:nvPr/>
        </p:nvSpPr>
        <p:spPr>
          <a:xfrm>
            <a:off x="502920" y="2560320"/>
            <a:ext cx="3977640" cy="457200"/>
          </a:xfrm>
          <a:prstGeom prst="rect">
            <a:avLst/>
          </a:prstGeom>
          <a:noFill/>
          <a:ln/>
        </p:spPr>
        <p:txBody>
          <a:bodyPr wrap="square" rtlCol="0" anchor="t"/>
          <a:lstStyle/>
          <a:p>
            <a:pPr algn="l">
              <a:buNone/>
            </a:pPr>
            <a:r>
              <a:rPr lang="en-US" sz="2200" dirty="0">
                <a:solidFill>
                  <a:srgbClr val="03BA81"/>
                </a:solidFill>
                <a:latin typeface="Lexend"/>
                <a:cs typeface="Lexend"/>
              </a:rPr>
              <a:t>02   </a:t>
            </a:r>
            <a:r>
              <a:rPr lang="en-US" sz="2200" dirty="0">
                <a:solidFill>
                  <a:srgbClr val="000000"/>
                </a:solidFill>
                <a:latin typeface="Lexend"/>
                <a:cs typeface="Lexend"/>
              </a:rPr>
              <a:t>Identical results</a:t>
            </a:r>
            <a:endParaRPr lang="en-US" sz="2200"/>
          </a:p>
        </p:txBody>
      </p:sp>
      <p:sp>
        <p:nvSpPr>
          <p:cNvPr id="51" name="Text 49"/>
          <p:cNvSpPr/>
          <p:nvPr/>
        </p:nvSpPr>
        <p:spPr>
          <a:xfrm>
            <a:off x="502920" y="3063240"/>
            <a:ext cx="3749040" cy="868680"/>
          </a:xfrm>
          <a:prstGeom prst="rect">
            <a:avLst/>
          </a:prstGeom>
          <a:noFill/>
          <a:ln/>
        </p:spPr>
        <p:txBody>
          <a:bodyPr wrap="square" rtlCol="0" anchor="t"/>
          <a:lstStyle/>
          <a:p>
            <a:pPr algn="l">
              <a:buNone/>
            </a:pPr>
            <a:r>
              <a:rPr lang="en-US" sz="1500" dirty="0">
                <a:solidFill>
                  <a:srgbClr val="000000"/>
                </a:solidFill>
                <a:latin typeface="Poppins"/>
                <a:cs typeface="Poppins"/>
              </a:rPr>
              <a:t>Aurora and Polaris agree at any rank count</a:t>
            </a:r>
            <a:endParaRPr lang="en-US" sz="1500"/>
          </a:p>
        </p:txBody>
      </p:sp>
      <p:sp>
        <p:nvSpPr>
          <p:cNvPr id="61" name="Text 59"/>
          <p:cNvSpPr/>
          <p:nvPr/>
        </p:nvSpPr>
        <p:spPr>
          <a:xfrm>
            <a:off x="502920" y="3977640"/>
            <a:ext cx="3977640" cy="457200"/>
          </a:xfrm>
          <a:prstGeom prst="rect">
            <a:avLst/>
          </a:prstGeom>
          <a:noFill/>
          <a:ln/>
        </p:spPr>
        <p:txBody>
          <a:bodyPr wrap="square" rtlCol="0" anchor="t"/>
          <a:lstStyle/>
          <a:p>
            <a:pPr algn="l">
              <a:buNone/>
            </a:pPr>
            <a:r>
              <a:rPr lang="en-US" sz="2200" dirty="0">
                <a:solidFill>
                  <a:srgbClr val="03BA81"/>
                </a:solidFill>
                <a:latin typeface="Lexend"/>
                <a:cs typeface="Lexend"/>
              </a:rPr>
              <a:t>03   </a:t>
            </a:r>
            <a:r>
              <a:rPr lang="en-US" sz="2200" dirty="0">
                <a:solidFill>
                  <a:srgbClr val="000000"/>
                </a:solidFill>
                <a:latin typeface="Lexend"/>
                <a:cs typeface="Lexend"/>
              </a:rPr>
              <a:t>Energy not bounded</a:t>
            </a:r>
            <a:endParaRPr lang="en-US" sz="2200"/>
          </a:p>
        </p:txBody>
      </p:sp>
      <p:sp>
        <p:nvSpPr>
          <p:cNvPr id="62" name="Text 60"/>
          <p:cNvSpPr/>
          <p:nvPr/>
        </p:nvSpPr>
        <p:spPr>
          <a:xfrm>
            <a:off x="502920" y="4480560"/>
            <a:ext cx="3749040" cy="868680"/>
          </a:xfrm>
          <a:prstGeom prst="rect">
            <a:avLst/>
          </a:prstGeom>
          <a:noFill/>
          <a:ln/>
        </p:spPr>
        <p:txBody>
          <a:bodyPr wrap="square" rtlCol="0" anchor="t"/>
          <a:lstStyle/>
          <a:p>
            <a:pPr algn="l">
              <a:buNone/>
            </a:pPr>
            <a:r>
              <a:rPr lang="en-US" sz="1500" dirty="0">
                <a:solidFill>
                  <a:srgbClr val="000000"/>
                </a:solidFill>
                <a:latin typeface="Poppins"/>
                <a:cs typeface="Poppins"/>
              </a:rPr>
              <a:t>Error ~10</a:t>
            </a:r>
            <a:r>
              <a:rPr lang="en-US" sz="1500" dirty="0" baseline="30000">
                <a:solidFill>
                  <a:srgbClr val="000000"/>
                </a:solidFill>
                <a:latin typeface="Poppins"/>
                <a:cs typeface="Poppins"/>
              </a:rPr>
              <a:t>−5</a:t>
            </a:r>
            <a:r>
              <a:rPr lang="en-US" sz="1500" dirty="0">
                <a:solidFill>
                  <a:srgbClr val="000000"/>
                </a:solidFill>
                <a:latin typeface="Poppins"/>
                <a:cs typeface="Poppins"/>
              </a:rPr>
              <a:t> over 600 steps; long runs heat (next slide)</a:t>
            </a:r>
            <a:endParaRPr lang="en-US" sz="1500"/>
          </a:p>
        </p:txBody>
      </p:sp>
      <p:sp>
        <p:nvSpPr>
          <p:cNvPr id="63" name="Shape 61"/>
          <p:cNvSpPr/>
          <p:nvPr/>
        </p:nvSpPr>
        <p:spPr>
          <a:xfrm>
            <a:off x="4572000" y="713232"/>
            <a:ext cx="1273759" cy="102413"/>
          </a:xfrm>
          <a:prstGeom prst="roundRect">
            <a:avLst>
              <a:gd name="adj" fmla="val 50000"/>
            </a:avLst>
          </a:prstGeom>
          <a:solidFill>
            <a:srgbClr val="03BA81"/>
          </a:solidFill>
          <a:ln/>
        </p:spPr>
      </p:sp>
      <p:pic>
        <p:nvPicPr>
          <p:cNvPr id="70" name="Picture 70" descr="Landau damping: field decay vs linear theory, and total-energy drift"/>
          <p:cNvPicPr>
            <a:picLocks noChangeAspect="1"/>
          </p:cNvPicPr>
          <p:nvPr/>
        </p:nvPicPr>
        <p:blipFill>
          <a:blip r:embed="rIdG4a"/>
          <a:stretch>
            <a:fillRect/>
          </a:stretch>
        </p:blipFill>
        <p:spPr>
          <a:xfrm>
            <a:off x="4526280" y="2487168"/>
            <a:ext cx="7315200" cy="26600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5</a:t>
            </a:r>
          </a:p>
        </p:txBody>
      </p:sp>
      <p:sp>
        <p:nvSpPr>
          <p:cNvPr id="5" name="Text 3"/>
          <p:cNvSpPr/>
          <p:nvPr/>
        </p:nvSpPr>
        <p:spPr>
          <a:xfrm>
            <a:off x="702259" y="944575"/>
            <a:ext cx="6164885" cy="1446581"/>
          </a:xfrm>
          <a:prstGeom prst="rect">
            <a:avLst/>
          </a:prstGeom>
          <a:noFill/>
          <a:ln/>
        </p:spPr>
        <p:txBody>
          <a:bodyPr wrap="square" rtlCol="0" anchor="t"/>
          <a:lstStyle/>
          <a:p>
            <a:pPr algn="l" indent="0" marL="0">
              <a:buNone/>
            </a:pPr>
            <a:r>
              <a:rPr lang="en-US" sz="4400" dirty="0">
                <a:solidFill>
                  <a:srgbClr val="000000"/>
                </a:solidFill>
                <a:latin typeface="Lexend" pitchFamily="34" charset="0"/>
                <a:ea typeface="Lexend" pitchFamily="34" charset="-122"/>
                <a:cs typeface="Lexend" pitchFamily="34" charset="-120"/>
              </a:rPr>
              <a:t>A trap we found:</a:t>
            </a:r>
            <a:br>
              <a:rPr lang="en-US" sz="4400" dirty="0">
                <a:solidFill>
                  <a:srgbClr val="000000"/>
                </a:solidFill>
                <a:latin typeface="Lexend" pitchFamily="34" charset="0"/>
                <a:ea typeface="Lexend" pitchFamily="34" charset="-122"/>
                <a:cs typeface="Lexend" pitchFamily="34" charset="-120"/>
              </a:rPr>
            </a:br>
            <a:r>
              <a:rPr lang="en-US" sz="4400" dirty="0">
                <a:solidFill>
                  <a:srgbClr val="03BA81"/>
                </a:solidFill>
                <a:latin typeface="Lexend" pitchFamily="34" charset="0"/>
                <a:ea typeface="Lexend" pitchFamily="34" charset="-122"/>
                <a:cs typeface="Lexend" pitchFamily="34" charset="-120"/>
              </a:rPr>
              <a:t>wrong structure</a:t>
            </a:r>
          </a:p>
        </p:txBody>
      </p:sp>
      <p:sp>
        <p:nvSpPr>
          <p:cNvPr id="6" name="Shape 4"/>
          <p:cNvSpPr/>
          <p:nvPr/>
        </p:nvSpPr>
        <p:spPr>
          <a:xfrm>
            <a:off x="0" y="2854757"/>
            <a:ext cx="5071262" cy="1922069"/>
          </a:xfrm>
          <a:prstGeom prst="rect">
            <a:avLst/>
          </a:prstGeom>
          <a:solidFill>
            <a:srgbClr val="CCCCCC"/>
          </a:solidFill>
          <a:ln/>
        </p:spPr>
      </p:sp>
      <p:sp>
        <p:nvSpPr>
          <p:cNvPr id="7" name="Shape 5"/>
          <p:cNvSpPr/>
          <p:nvPr/>
        </p:nvSpPr>
        <p:spPr>
          <a:xfrm>
            <a:off x="5071262" y="2854757"/>
            <a:ext cx="3560674" cy="1922069"/>
          </a:xfrm>
          <a:prstGeom prst="rect">
            <a:avLst/>
          </a:prstGeom>
          <a:solidFill>
            <a:srgbClr val="0F241F"/>
          </a:solidFill>
          <a:ln/>
        </p:spPr>
      </p:sp>
      <p:sp>
        <p:nvSpPr>
          <p:cNvPr id="8" name="Shape 6"/>
          <p:cNvSpPr/>
          <p:nvPr/>
        </p:nvSpPr>
        <p:spPr>
          <a:xfrm>
            <a:off x="8631936" y="2854757"/>
            <a:ext cx="3560674" cy="1922069"/>
          </a:xfrm>
          <a:prstGeom prst="rect">
            <a:avLst/>
          </a:prstGeom>
          <a:solidFill>
            <a:srgbClr val="03BA81"/>
          </a:solidFill>
          <a:ln/>
        </p:spPr>
      </p:sp>
      <p:sp>
        <p:nvSpPr>
          <p:cNvPr id="9" name="Text 7"/>
          <p:cNvSpPr/>
          <p:nvPr/>
        </p:nvSpPr>
        <p:spPr>
          <a:xfrm>
            <a:off x="7498079" y="1868119"/>
            <a:ext cx="1828800" cy="523037"/>
          </a:xfrm>
          <a:prstGeom prst="rect">
            <a:avLst/>
          </a:prstGeom>
          <a:noFill/>
          <a:ln/>
        </p:spPr>
        <p:txBody>
          <a:bodyPr wrap="square" rtlCol="0" anchor="t"/>
          <a:lstStyle/>
          <a:p>
            <a:pPr algn="l" indent="0" marL="0">
              <a:buNone/>
            </a:pPr>
            <a:r>
              <a:rPr lang="en-US" sz="2800" dirty="0">
                <a:solidFill>
                  <a:srgbClr val="000000"/>
                </a:solidFill>
                <a:latin typeface="Lexend" pitchFamily="34" charset="0"/>
                <a:ea typeface="Lexend" pitchFamily="34" charset="-122"/>
                <a:cs typeface="Lexend" pitchFamily="34" charset="-120"/>
              </a:rPr>
              <a:t>10</a:t>
            </a:r>
            <a:r>
              <a:rPr lang="en-US" sz="2800" dirty="0" baseline="30000">
                <a:solidFill>
                  <a:srgbClr val="000000"/>
                </a:solidFill>
                <a:latin typeface="Lexend" pitchFamily="34" charset="0"/>
                <a:ea typeface="Lexend" pitchFamily="34" charset="-122"/>
                <a:cs typeface="Lexend" pitchFamily="34" charset="-120"/>
              </a:rPr>
              <a:t>6</a:t>
            </a:r>
            <a:r>
              <a:rPr lang="en-US" sz="2800" dirty="0">
                <a:solidFill>
                  <a:srgbClr val="000000"/>
                </a:solidFill>
                <a:latin typeface="Lexend" pitchFamily="34" charset="0"/>
                <a:ea typeface="Lexend" pitchFamily="34" charset="-122"/>
                <a:cs typeface="Lexend" pitchFamily="34" charset="-120"/>
              </a:rPr>
              <a:t> steps</a:t>
            </a:r>
          </a:p>
        </p:txBody>
      </p:sp>
      <p:sp>
        <p:nvSpPr>
          <p:cNvPr id="10" name="Text 8"/>
          <p:cNvSpPr/>
          <p:nvPr/>
        </p:nvSpPr>
        <p:spPr>
          <a:xfrm>
            <a:off x="9372600" y="1847088"/>
            <a:ext cx="2514600" cy="685800"/>
          </a:xfrm>
          <a:prstGeom prst="rect">
            <a:avLst/>
          </a:prstGeom>
          <a:noFill/>
          <a:ln/>
        </p:spPr>
        <p:txBody>
          <a:bodyPr wrap="square" rtlCol="0" anchor="t"/>
          <a:lstStyle/>
          <a:p>
            <a:pPr algn="ctr" indent="0" marL="0">
              <a:lnSpc>
                <a:spcPct val="130000"/>
              </a:lnSpc>
              <a:buNone/>
            </a:pPr>
            <a:r>
              <a:rPr lang="en-US" sz="1400" dirty="0">
                <a:solidFill>
                  <a:srgbClr val="000000"/>
                </a:solidFill>
                <a:latin typeface="Poppins" pitchFamily="34" charset="0"/>
                <a:ea typeface="Poppins" pitchFamily="34" charset="-122"/>
                <a:cs typeface="Poppins" pitchFamily="34" charset="-120"/>
              </a:rPr>
              <a:t>one charged particle per run, Solov'ev field</a:t>
            </a:r>
          </a:p>
        </p:txBody>
      </p:sp>
      <p:sp>
        <p:nvSpPr>
          <p:cNvPr id="11" name="Text 9"/>
          <p:cNvSpPr/>
          <p:nvPr/>
        </p:nvSpPr>
        <p:spPr>
          <a:xfrm>
            <a:off x="548640" y="3017520"/>
            <a:ext cx="4206240" cy="685800"/>
          </a:xfrm>
          <a:prstGeom prst="rect">
            <a:avLst/>
          </a:prstGeom>
          <a:noFill/>
          <a:ln/>
        </p:spPr>
        <p:txBody>
          <a:bodyPr wrap="square" rtlCol="0" anchor="t"/>
          <a:lstStyle/>
          <a:p>
            <a:pPr algn="l" indent="0" marL="0">
              <a:buNone/>
            </a:pPr>
            <a:r>
              <a:rPr lang="en-US" sz="4000" dirty="0">
                <a:solidFill>
                  <a:srgbClr val="000000"/>
                </a:solidFill>
                <a:latin typeface="Lexend" pitchFamily="34" charset="0"/>
                <a:ea typeface="Lexend" pitchFamily="34" charset="-122"/>
                <a:cs typeface="Lexend" pitchFamily="34" charset="-120"/>
              </a:rPr>
              <a:t>Drifts</a:t>
            </a:r>
          </a:p>
        </p:txBody>
      </p:sp>
      <p:sp>
        <p:nvSpPr>
          <p:cNvPr id="12" name="Text 10"/>
          <p:cNvSpPr/>
          <p:nvPr/>
        </p:nvSpPr>
        <p:spPr>
          <a:xfrm>
            <a:off x="548640" y="3657600"/>
            <a:ext cx="4206240" cy="1005840"/>
          </a:xfrm>
          <a:prstGeom prst="rect">
            <a:avLst/>
          </a:prstGeom>
          <a:noFill/>
          <a:ln/>
        </p:spPr>
        <p:txBody>
          <a:bodyPr wrap="square" rtlCol="0" anchor="t"/>
          <a:lstStyle/>
          <a:p>
            <a:pPr algn="l" indent="0" marL="0">
              <a:lnSpc>
                <a:spcPct val="130000"/>
              </a:lnSpc>
              <a:buNone/>
            </a:pPr>
            <a:r>
              <a:rPr lang="en-US" sz="1400" dirty="0" b="1">
                <a:solidFill>
                  <a:srgbClr val="000000"/>
                </a:solidFill>
                <a:latin typeface="Poppins" pitchFamily="34" charset="0"/>
                <a:ea typeface="Poppins" pitchFamily="34" charset="-122"/>
                <a:cs typeface="Poppins" pitchFamily="34" charset="-120"/>
              </a:rPr>
              <a:t>RK4</a:t>
            </a:r>
            <a:br>
              <a:rPr lang="en-US" sz="1200" dirty="0">
                <a:solidFill>
                  <a:srgbClr val="000000"/>
                </a:solidFill>
                <a:latin typeface="Poppins" pitchFamily="34" charset="0"/>
                <a:ea typeface="Poppins" pitchFamily="34" charset="-122"/>
                <a:cs typeface="Poppins" pitchFamily="34" charset="-120"/>
              </a:rPr>
            </a:br>
            <a:r>
              <a:rPr lang="en-US" sz="1400" dirty="0">
                <a:solidFill>
                  <a:srgbClr val="000000"/>
                </a:solidFill>
                <a:latin typeface="Poppins" pitchFamily="34" charset="0"/>
                <a:ea typeface="Poppins" pitchFamily="34" charset="-122"/>
                <a:cs typeface="Poppins" pitchFamily="34" charset="-120"/>
              </a:rPr>
              <a:t>accurate per step, secular energy drift</a:t>
            </a:r>
          </a:p>
        </p:txBody>
      </p:sp>
      <p:sp>
        <p:nvSpPr>
          <p:cNvPr id="13" name="Text 11"/>
          <p:cNvSpPr/>
          <p:nvPr/>
        </p:nvSpPr>
        <p:spPr>
          <a:xfrm>
            <a:off x="5394960" y="3017520"/>
            <a:ext cx="3017520" cy="685800"/>
          </a:xfrm>
          <a:prstGeom prst="rect">
            <a:avLst/>
          </a:prstGeom>
          <a:noFill/>
          <a:ln/>
        </p:spPr>
        <p:txBody>
          <a:bodyPr wrap="square" rtlCol="0" anchor="t"/>
          <a:lstStyle/>
          <a:p>
            <a:pPr algn="l" indent="0" marL="0">
              <a:buNone/>
            </a:pPr>
            <a:r>
              <a:rPr lang="en-US" sz="4000" dirty="0">
                <a:solidFill>
                  <a:srgbClr val="F0F0F0"/>
                </a:solidFill>
                <a:latin typeface="Lexend" pitchFamily="34" charset="0"/>
                <a:ea typeface="Lexend" pitchFamily="34" charset="-122"/>
                <a:cs typeface="Lexend" pitchFamily="34" charset="-120"/>
              </a:rPr>
              <a:t>Blows up</a:t>
            </a:r>
          </a:p>
        </p:txBody>
      </p:sp>
      <p:sp>
        <p:nvSpPr>
          <p:cNvPr id="14" name="Text 12"/>
          <p:cNvSpPr/>
          <p:nvPr/>
        </p:nvSpPr>
        <p:spPr>
          <a:xfrm>
            <a:off x="5394960" y="3657600"/>
            <a:ext cx="3017520" cy="1005840"/>
          </a:xfrm>
          <a:prstGeom prst="rect">
            <a:avLst/>
          </a:prstGeom>
          <a:noFill/>
          <a:ln/>
        </p:spPr>
        <p:txBody>
          <a:bodyPr wrap="square" rtlCol="0" anchor="t"/>
          <a:lstStyle/>
          <a:p>
            <a:pPr algn="l" indent="0" marL="0">
              <a:lnSpc>
                <a:spcPct val="130000"/>
              </a:lnSpc>
              <a:buNone/>
            </a:pPr>
            <a:r>
              <a:rPr lang="en-US" sz="1400" dirty="0" b="1">
                <a:solidFill>
                  <a:srgbClr val="F0F0F0"/>
                </a:solidFill>
                <a:latin typeface="Poppins" pitchFamily="34" charset="0"/>
                <a:ea typeface="Poppins" pitchFamily="34" charset="-122"/>
                <a:cs typeface="Poppins" pitchFamily="34" charset="-120"/>
              </a:rPr>
              <a:t>TSBASICSYMPLECTIC</a:t>
            </a:r>
            <a:br>
              <a:rPr lang="en-US" sz="1200" dirty="0">
                <a:solidFill>
                  <a:srgbClr val="F0F0F0"/>
                </a:solidFill>
                <a:latin typeface="Poppins" pitchFamily="34" charset="0"/>
                <a:ea typeface="Poppins" pitchFamily="34" charset="-122"/>
                <a:cs typeface="Poppins" pitchFamily="34" charset="-120"/>
              </a:rPr>
            </a:br>
            <a:r>
              <a:rPr lang="en-US" sz="1400" dirty="0">
                <a:solidFill>
                  <a:srgbClr val="F0F0F0"/>
                </a:solidFill>
                <a:latin typeface="Poppins" pitchFamily="34" charset="0"/>
                <a:ea typeface="Poppins" pitchFamily="34" charset="-122"/>
                <a:cs typeface="Poppins" pitchFamily="34" charset="-120"/>
              </a:rPr>
              <a:t>with v×B, in &lt; 2,000 steps</a:t>
            </a:r>
          </a:p>
        </p:txBody>
      </p:sp>
      <p:sp>
        <p:nvSpPr>
          <p:cNvPr id="15" name="Text 13"/>
          <p:cNvSpPr/>
          <p:nvPr/>
        </p:nvSpPr>
        <p:spPr>
          <a:xfrm>
            <a:off x="8961120" y="3017520"/>
            <a:ext cx="3017520" cy="685800"/>
          </a:xfrm>
          <a:prstGeom prst="rect">
            <a:avLst/>
          </a:prstGeom>
          <a:noFill/>
          <a:ln/>
        </p:spPr>
        <p:txBody>
          <a:bodyPr wrap="square" rtlCol="0" anchor="t"/>
          <a:lstStyle/>
          <a:p>
            <a:pPr algn="l" indent="0" marL="0">
              <a:buNone/>
            </a:pPr>
            <a:r>
              <a:rPr lang="en-US" sz="4000" dirty="0">
                <a:solidFill>
                  <a:srgbClr val="F0F0F0"/>
                </a:solidFill>
                <a:latin typeface="Lexend" pitchFamily="34" charset="0"/>
                <a:ea typeface="Lexend" pitchFamily="34" charset="-122"/>
                <a:cs typeface="Lexend" pitchFamily="34" charset="-120"/>
              </a:rPr>
              <a:t>Bounded</a:t>
            </a:r>
          </a:p>
        </p:txBody>
      </p:sp>
      <p:sp>
        <p:nvSpPr>
          <p:cNvPr id="16" name="Text 14"/>
          <p:cNvSpPr/>
          <p:nvPr/>
        </p:nvSpPr>
        <p:spPr>
          <a:xfrm>
            <a:off x="8961120" y="3657600"/>
            <a:ext cx="3017520" cy="1005840"/>
          </a:xfrm>
          <a:prstGeom prst="rect">
            <a:avLst/>
          </a:prstGeom>
          <a:noFill/>
          <a:ln/>
        </p:spPr>
        <p:txBody>
          <a:bodyPr wrap="square" rtlCol="0" anchor="t"/>
          <a:lstStyle/>
          <a:p>
            <a:pPr algn="l" indent="0" marL="0">
              <a:lnSpc>
                <a:spcPct val="130000"/>
              </a:lnSpc>
              <a:buNone/>
            </a:pPr>
            <a:r>
              <a:rPr lang="en-US" sz="1400" dirty="0" b="1">
                <a:solidFill>
                  <a:srgbClr val="F0F0F0"/>
                </a:solidFill>
                <a:latin typeface="Poppins" pitchFamily="34" charset="0"/>
                <a:ea typeface="Poppins" pitchFamily="34" charset="-122"/>
                <a:cs typeface="Poppins" pitchFamily="34" charset="-120"/>
              </a:rPr>
              <a:t>Boris · TSDISCGRAD</a:t>
            </a:r>
            <a:br>
              <a:rPr lang="en-US" sz="1200" dirty="0">
                <a:solidFill>
                  <a:srgbClr val="F0F0F0"/>
                </a:solidFill>
                <a:latin typeface="Poppins" pitchFamily="34" charset="0"/>
                <a:ea typeface="Poppins" pitchFamily="34" charset="-122"/>
                <a:cs typeface="Poppins" pitchFamily="34" charset="-120"/>
              </a:rPr>
            </a:br>
            <a:r>
              <a:rPr lang="en-US" sz="1400" dirty="0">
                <a:solidFill>
                  <a:srgbClr val="F0F0F0"/>
                </a:solidFill>
                <a:latin typeface="Poppins" pitchFamily="34" charset="0"/>
                <a:ea typeface="Poppins" pitchFamily="34" charset="-122"/>
                <a:cs typeface="Poppins" pitchFamily="34" charset="-120"/>
              </a:rPr>
              <a:t>Boris keeps volume; DISCGRAD keeps energy</a:t>
            </a:r>
          </a:p>
        </p:txBody>
      </p:sp>
      <p:sp>
        <p:nvSpPr>
          <p:cNvPr id="17" name="Text 15"/>
          <p:cNvSpPr/>
          <p:nvPr/>
        </p:nvSpPr>
        <p:spPr>
          <a:xfrm>
            <a:off x="2631643" y="5074920"/>
            <a:ext cx="8509406" cy="1051560"/>
          </a:xfrm>
          <a:prstGeom prst="rect">
            <a:avLst/>
          </a:prstGeom>
          <a:noFill/>
          <a:ln/>
        </p:spPr>
        <p:txBody>
          <a:bodyPr wrap="square" rtlCol="0" anchor="t"/>
          <a:lstStyle/>
          <a:p>
            <a:pPr algn="l" indent="0" marL="0">
              <a:lnSpc>
                <a:spcPct val="130000"/>
              </a:lnSpc>
              <a:buNone/>
            </a:pPr>
            <a:r>
              <a:rPr lang="en-US" sz="1600" dirty="0">
                <a:solidFill>
                  <a:srgbClr val="000000"/>
                </a:solidFill>
                <a:latin typeface="Poppins" pitchFamily="34" charset="0"/>
                <a:ea typeface="Poppins" pitchFamily="34" charset="-122"/>
                <a:cs typeface="Poppins" pitchFamily="34" charset="-120"/>
              </a:rPr>
              <a:t>The method must match the Hamiltonian: TSBASICSYMPLECTIC assumes a separable H = T(p) + V(q), and v×B breaks that.</a:t>
            </a:r>
          </a:p>
        </p:txBody>
      </p:sp>
      <p:sp>
        <p:nvSpPr>
          <p:cNvPr id="18" name="Text 16"/>
          <p:cNvSpPr/>
          <p:nvPr/>
        </p:nvSpPr>
        <p:spPr>
          <a:xfrm>
            <a:off x="702259" y="5172761"/>
            <a:ext cx="1592885" cy="338328"/>
          </a:xfrm>
          <a:prstGeom prst="rect">
            <a:avLst/>
          </a:prstGeom>
          <a:noFill/>
          <a:ln/>
        </p:spPr>
        <p:txBody>
          <a:bodyPr wrap="square" rtlCol="0" anchor="t"/>
          <a:lstStyle/>
          <a:p>
            <a:pPr algn="l" indent="0" marL="0">
              <a:buNone/>
            </a:pPr>
            <a:r>
              <a:rPr lang="en-US" sz="1600" dirty="0">
                <a:solidFill>
                  <a:srgbClr val="000000"/>
                </a:solidFill>
                <a:latin typeface="Lexend" pitchFamily="34" charset="0"/>
                <a:ea typeface="Lexend" pitchFamily="34" charset="-122"/>
                <a:cs typeface="Lexend" pitchFamily="34" charset="-120"/>
              </a:rPr>
              <a:t>The lesson</a:t>
            </a:r>
          </a:p>
        </p:txBody>
      </p:sp>
      <p:sp>
        <p:nvSpPr>
          <p:cNvPr id="19" name="Shape 17"/>
          <p:cNvSpPr/>
          <p:nvPr/>
        </p:nvSpPr>
        <p:spPr>
          <a:xfrm>
            <a:off x="5355641" y="2027225"/>
            <a:ext cx="1273759" cy="102413"/>
          </a:xfrm>
          <a:prstGeom prst="roundRect">
            <a:avLst>
              <a:gd name="adj" fmla="val 50000"/>
            </a:avLst>
          </a:prstGeom>
          <a:solidFill>
            <a:srgbClr val="03BA81"/>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7</a:t>
            </a:r>
          </a:p>
        </p:txBody>
      </p:sp>
      <p:sp>
        <p:nvSpPr>
          <p:cNvPr id="5" name="Text 3"/>
          <p:cNvSpPr/>
          <p:nvPr/>
        </p:nvSpPr>
        <p:spPr>
          <a:xfrm>
            <a:off x="702259" y="978408"/>
            <a:ext cx="4846320" cy="1234440"/>
          </a:xfrm>
          <a:prstGeom prst="rect">
            <a:avLst/>
          </a:prstGeom>
          <a:noFill/>
          <a:ln/>
        </p:spPr>
        <p:txBody>
          <a:bodyPr wrap="square" rtlCol="0" anchor="t"/>
          <a:lstStyle/>
          <a:p>
            <a:pPr algn="l" indent="0" marL="0">
              <a:buNone/>
            </a:pPr>
            <a:r>
              <a:rPr lang="en-US" sz="3600" dirty="0">
                <a:solidFill>
                  <a:srgbClr val="000000"/>
                </a:solidFill>
                <a:latin typeface="Lexend" pitchFamily="34" charset="0"/>
                <a:ea typeface="Lexend" pitchFamily="34" charset="-122"/>
                <a:cs typeface="Lexend" pitchFamily="34" charset="-120"/>
              </a:rPr>
              <a:t>One orchestrator, </a:t>
            </a:r>
            <a:r>
              <a:rPr lang="en-US" sz="3600" dirty="0">
                <a:solidFill>
                  <a:srgbClr val="03BA81"/>
                </a:solidFill>
                <a:latin typeface="Lexend" pitchFamily="34" charset="0"/>
                <a:ea typeface="Lexend" pitchFamily="34" charset="-122"/>
                <a:cs typeface="Lexend" pitchFamily="34" charset="-120"/>
              </a:rPr>
              <a:t>four specialists</a:t>
            </a:r>
          </a:p>
        </p:txBody>
      </p:sp>
      <p:sp>
        <p:nvSpPr>
          <p:cNvPr id="7" name="Shape 5"/>
          <p:cNvSpPr/>
          <p:nvPr/>
        </p:nvSpPr>
        <p:spPr>
          <a:xfrm>
            <a:off x="702259" y="3794760"/>
            <a:ext cx="4754880" cy="2148840"/>
          </a:xfrm>
          <a:prstGeom prst="rect">
            <a:avLst/>
          </a:prstGeom>
          <a:solidFill>
            <a:srgbClr val="0F241F"/>
          </a:solidFill>
          <a:ln/>
        </p:spPr>
      </p:sp>
      <p:sp>
        <p:nvSpPr>
          <p:cNvPr id="11" name="Text 9"/>
          <p:cNvSpPr/>
          <p:nvPr/>
        </p:nvSpPr>
        <p:spPr>
          <a:xfrm>
            <a:off x="914400" y="4023360"/>
            <a:ext cx="4389120" cy="411480"/>
          </a:xfrm>
          <a:prstGeom prst="rect">
            <a:avLst/>
          </a:prstGeom>
          <a:noFill/>
          <a:ln/>
        </p:spPr>
        <p:txBody>
          <a:bodyPr wrap="square" rtlCol="0" anchor="t"/>
          <a:lstStyle/>
          <a:p>
            <a:pPr algn="l" indent="0" marL="0">
              <a:buNone/>
            </a:pPr>
            <a:r>
              <a:rPr lang="en-US" sz="1800" dirty="0">
                <a:solidFill>
                  <a:srgbClr val="F0F0F0"/>
                </a:solidFill>
                <a:latin typeface="Lexend" pitchFamily="34" charset="0"/>
                <a:ea typeface="Lexend" pitchFamily="34" charset="-122"/>
                <a:cs typeface="Lexend" pitchFamily="34" charset="-120"/>
              </a:rPr>
              <a:t>Built on PETSc MCP servers</a:t>
            </a:r>
          </a:p>
        </p:txBody>
      </p:sp>
      <p:sp>
        <p:nvSpPr>
          <p:cNvPr id="12" name="Text 10"/>
          <p:cNvSpPr/>
          <p:nvPr/>
        </p:nvSpPr>
        <p:spPr>
          <a:xfrm>
            <a:off x="914400" y="4526280"/>
            <a:ext cx="4389120" cy="1280160"/>
          </a:xfrm>
          <a:prstGeom prst="rect">
            <a:avLst/>
          </a:prstGeom>
          <a:noFill/>
          <a:ln/>
        </p:spPr>
        <p:txBody>
          <a:bodyPr wrap="square" rtlCol="0" anchor="t"/>
          <a:lstStyle/>
          <a:p>
            <a:pPr algn="l" indent="0" marL="0">
              <a:lnSpc>
                <a:spcPct val="130000"/>
              </a:lnSpc>
              <a:spcBef>
                <a:spcPts val="600"/>
              </a:spcBef>
              <a:buNone/>
            </a:pPr>
            <a:r>
              <a:rPr lang="en-US" sz="1400" dirty="0">
                <a:solidFill>
                  <a:srgbClr val="F0F0F0"/>
                </a:solidFill>
                <a:latin typeface="Poppins" pitchFamily="34" charset="0"/>
                <a:ea typeface="Poppins" pitchFamily="34" charset="-122"/>
                <a:cs typeface="Poppins" pitchFamily="34" charset="-120"/>
              </a:rPr>
              <a:t>Each agent is an MCP server with RAG over PETSc docs</a:t>
            </a:r>
          </a:p>
          <a:p>
            <a:pPr algn="l" indent="0" marL="0">
              <a:lnSpc>
                <a:spcPct val="130000"/>
              </a:lnSpc>
              <a:spcBef>
                <a:spcPts val="600"/>
              </a:spcBef>
              <a:buNone/>
            </a:pPr>
            <a:r>
              <a:rPr lang="en-US" sz="1400" dirty="0">
                <a:solidFill>
                  <a:srgbClr val="F0F0F0"/>
                </a:solidFill>
                <a:latin typeface="Poppins" pitchFamily="34" charset="0"/>
                <a:ea typeface="Poppins" pitchFamily="34" charset="-122"/>
                <a:cs typeface="Poppins" pitchFamily="34" charset="-120"/>
              </a:rPr>
              <a:t>gitlab.com/petsc/petsc_mcp_servers</a:t>
            </a:r>
          </a:p>
        </p:txBody>
      </p:sp>
      <p:sp>
        <p:nvSpPr>
          <p:cNvPr id="15" name="Text 13"/>
          <p:cNvSpPr/>
          <p:nvPr/>
        </p:nvSpPr>
        <p:spPr>
          <a:xfrm>
            <a:off x="1783080" y="2487168"/>
            <a:ext cx="3749040" cy="1005840"/>
          </a:xfrm>
          <a:prstGeom prst="rect">
            <a:avLst/>
          </a:prstGeom>
          <a:noFill/>
          <a:ln/>
        </p:spPr>
        <p:txBody>
          <a:bodyPr wrap="square" rtlCol="0" anchor="t"/>
          <a:lstStyle/>
          <a:p>
            <a:pPr algn="l" indent="0" marL="0">
              <a:buNone/>
            </a:pPr>
            <a:r>
              <a:rPr lang="en-US" sz="1400" dirty="0">
                <a:solidFill>
                  <a:srgbClr val="000000"/>
                </a:solidFill>
                <a:latin typeface="Poppins" pitchFamily="34" charset="0"/>
                <a:ea typeface="Poppins" pitchFamily="34" charset="-122"/>
                <a:cs typeface="Poppins" pitchFamily="34" charset="-120"/>
              </a:rPr>
              <a:t>specialists: math modeling, numerical analysis, HPC code + execution, visualization / analysis</a:t>
            </a:r>
          </a:p>
        </p:txBody>
      </p:sp>
      <p:sp>
        <p:nvSpPr>
          <p:cNvPr id="16" name="Text 14"/>
          <p:cNvSpPr/>
          <p:nvPr/>
        </p:nvSpPr>
        <p:spPr>
          <a:xfrm>
            <a:off x="5806440" y="5687568"/>
            <a:ext cx="5961888" cy="457200"/>
          </a:xfrm>
          <a:prstGeom prst="rect">
            <a:avLst/>
          </a:prstGeom>
          <a:noFill/>
          <a:ln/>
        </p:spPr>
        <p:txBody>
          <a:bodyPr wrap="square" rtlCol="0" anchor="t"/>
          <a:lstStyle/>
          <a:p>
            <a:pPr algn="just" indent="0" marL="0">
              <a:lnSpc>
                <a:spcPct val="130000"/>
              </a:lnSpc>
              <a:buNone/>
            </a:pPr>
            <a:r>
              <a:rPr lang="en-US" sz="1000" dirty="0">
                <a:solidFill>
                  <a:srgbClr val="595959"/>
                </a:solidFill>
                <a:latin typeface="Poppins" pitchFamily="34" charset="0"/>
                <a:ea typeface="Poppins" pitchFamily="34" charset="-122"/>
                <a:cs typeface="Poppins" pitchFamily="34" charset="-120"/>
              </a:rPr>
              <a:t>3-layer hierarchy. Figure: McInnes et al., "Automated Problem-to-Solution Generation for PDE-Based Simulation Science."</a:t>
            </a:r>
          </a:p>
        </p:txBody>
      </p:sp>
      <p:sp>
        <p:nvSpPr>
          <p:cNvPr id="17" name="Text 15"/>
          <p:cNvSpPr/>
          <p:nvPr/>
        </p:nvSpPr>
        <p:spPr>
          <a:xfrm>
            <a:off x="702259" y="2377440"/>
            <a:ext cx="1097280" cy="1188720"/>
          </a:xfrm>
          <a:prstGeom prst="rect">
            <a:avLst/>
          </a:prstGeom>
          <a:noFill/>
          <a:ln/>
        </p:spPr>
        <p:txBody>
          <a:bodyPr wrap="square" rtlCol="0" anchor="t"/>
          <a:lstStyle/>
          <a:p>
            <a:pPr algn="l" indent="0" marL="0">
              <a:buNone/>
            </a:pPr>
            <a:r>
              <a:rPr lang="en-US" sz="7200" dirty="0">
                <a:solidFill>
                  <a:srgbClr val="03BA81"/>
                </a:solidFill>
                <a:latin typeface="Lexend" pitchFamily="34" charset="0"/>
                <a:ea typeface="Lexend" pitchFamily="34" charset="-122"/>
                <a:cs typeface="Lexend" pitchFamily="34" charset="-120"/>
              </a:rPr>
              <a:t>4</a:t>
            </a:r>
          </a:p>
        </p:txBody>
      </p:sp>
      <p:sp>
        <p:nvSpPr>
          <p:cNvPr id="60" name="Shape 58"/>
          <p:cNvSpPr/>
          <p:nvPr/>
        </p:nvSpPr>
        <p:spPr>
          <a:xfrm>
            <a:off x="777240" y="850392"/>
            <a:ext cx="1273759" cy="102413"/>
          </a:xfrm>
          <a:prstGeom prst="roundRect">
            <a:avLst>
              <a:gd name="adj" fmla="val 50000"/>
            </a:avLst>
          </a:prstGeom>
          <a:solidFill>
            <a:srgbClr val="03BA81"/>
          </a:solidFill>
          <a:ln/>
        </p:spPr>
      </p:sp>
      <p:pic>
        <p:nvPicPr>
          <p:cNvPr id="300" name="Genesis multi-agent hierarchy" descr="Three-layer multi-agent hierarchy: orchestrator agent over four specialist agents (McInnes et al.)"/>
          <p:cNvPicPr>
            <a:picLocks noChangeAspect="1"/>
          </p:cNvPicPr>
          <p:nvPr/>
        </p:nvPicPr>
        <p:blipFill>
          <a:blip r:embed="rIdG3a"/>
          <a:stretch>
            <a:fillRect/>
          </a:stretch>
        </p:blipFill>
        <p:spPr>
          <a:xfrm>
            <a:off x="5806440" y="868680"/>
            <a:ext cx="5961888" cy="479977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endParaRPr lang="en-US" sz="1200" dirty="0"/>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endParaRPr lang="en-US" sz="1200" dirty="0"/>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2</a:t>
            </a:r>
            <a:endParaRPr lang="en-US" sz="1200" dirty="0"/>
          </a:p>
        </p:txBody>
      </p:sp>
      <p:sp>
        <p:nvSpPr>
          <p:cNvPr id="5" name="Text 3"/>
          <p:cNvSpPr/>
          <p:nvPr/>
        </p:nvSpPr>
        <p:spPr>
          <a:xfrm>
            <a:off x="702259" y="1280160"/>
            <a:ext cx="5669280" cy="1554480"/>
          </a:xfrm>
          <a:prstGeom prst="rect">
            <a:avLst/>
          </a:prstGeom>
          <a:noFill/>
          <a:ln/>
        </p:spPr>
        <p:txBody>
          <a:bodyPr wrap="square" rtlCol="0" anchor="t"/>
          <a:lstStyle/>
          <a:p>
            <a:pPr algn="l" indent="0" marL="0">
              <a:buNone/>
            </a:pPr>
            <a:r>
              <a:rPr lang="en-US" sz="4400" dirty="0">
                <a:solidFill>
                  <a:srgbClr val="03BA81"/>
                </a:solidFill>
                <a:latin typeface="Lexend" pitchFamily="34" charset="0"/>
                <a:ea typeface="Lexend" pitchFamily="34" charset="-122"/>
                <a:cs typeface="Lexend" pitchFamily="34" charset="-120"/>
              </a:rPr>
              <a:t>Plasma </a:t>
            </a:r>
            <a:r>
              <a:rPr lang="en-US" sz="4400" dirty="0">
                <a:solidFill>
                  <a:srgbClr val="000000"/>
                </a:solidFill>
                <a:latin typeface="Lexend" pitchFamily="34" charset="0"/>
                <a:ea typeface="Lexend" pitchFamily="34" charset="-122"/>
                <a:cs typeface="Lexend" pitchFamily="34" charset="-120"/>
              </a:rPr>
              <a:t>is a hard complex system</a:t>
            </a:r>
            <a:endParaRPr lang="en-US" sz="4400" dirty="0"/>
          </a:p>
        </p:txBody>
      </p:sp>
      <p:sp>
        <p:nvSpPr>
          <p:cNvPr id="6" name="Shape 4"/>
          <p:cNvSpPr/>
          <p:nvPr/>
        </p:nvSpPr>
        <p:spPr>
          <a:xfrm>
            <a:off x="6842455" y="2286000"/>
            <a:ext cx="5349240" cy="2286000"/>
          </a:xfrm>
          <a:prstGeom prst="rect">
            <a:avLst/>
          </a:prstGeom>
          <a:solidFill>
            <a:srgbClr val="03BA81"/>
          </a:solidFill>
          <a:ln/>
        </p:spPr>
      </p:sp>
      <p:sp>
        <p:nvSpPr>
          <p:cNvPr id="7" name="Text 5"/>
          <p:cNvSpPr/>
          <p:nvPr/>
        </p:nvSpPr>
        <p:spPr>
          <a:xfrm>
            <a:off x="7269480" y="3337560"/>
            <a:ext cx="4754880" cy="1005840"/>
          </a:xfrm>
          <a:prstGeom prst="rect">
            <a:avLst/>
          </a:prstGeom>
          <a:noFill/>
          <a:ln/>
        </p:spPr>
        <p:txBody>
          <a:bodyPr wrap="square" rtlCol="0" anchor="t"/>
          <a:lstStyle/>
          <a:p>
            <a:pPr algn="l" indent="0" marL="0">
              <a:lnSpc>
                <a:spcPct val="130000"/>
              </a:lnSpc>
              <a:buNone/>
            </a:pPr>
            <a:r>
              <a:rPr lang="en-US" sz="1600" dirty="0">
                <a:solidFill>
                  <a:srgbClr val="F0F0F0"/>
                </a:solidFill>
                <a:latin typeface="Poppins" pitchFamily="34" charset="0"/>
                <a:ea typeface="Poppins" pitchFamily="34" charset="-122"/>
                <a:cs typeface="Poppins" pitchFamily="34" charset="-120"/>
              </a:rPr>
              <a:t>From fast gyro-motion to slow confinement times</a:t>
            </a:r>
            <a:endParaRPr lang="en-US" sz="1200" dirty="0"/>
          </a:p>
        </p:txBody>
      </p:sp>
      <p:sp>
        <p:nvSpPr>
          <p:cNvPr id="8" name="Text 6"/>
          <p:cNvSpPr/>
          <p:nvPr/>
        </p:nvSpPr>
        <p:spPr>
          <a:xfrm>
            <a:off x="7269480" y="2788920"/>
            <a:ext cx="4754880" cy="457200"/>
          </a:xfrm>
          <a:prstGeom prst="rect">
            <a:avLst/>
          </a:prstGeom>
          <a:noFill/>
          <a:ln/>
        </p:spPr>
        <p:txBody>
          <a:bodyPr wrap="square" rtlCol="0" anchor="t"/>
          <a:lstStyle/>
          <a:p>
            <a:pPr algn="l" indent="0" marL="0">
              <a:buNone/>
            </a:pPr>
            <a:r>
              <a:rPr lang="en-US" sz="2400" dirty="0">
                <a:solidFill>
                  <a:srgbClr val="F0F0F0"/>
                </a:solidFill>
                <a:latin typeface="Lexend" pitchFamily="34" charset="0"/>
                <a:ea typeface="Lexend" pitchFamily="34" charset="-122"/>
                <a:cs typeface="Lexend" pitchFamily="34" charset="-120"/>
              </a:rPr>
              <a:t>Multiscale</a:t>
            </a:r>
            <a:endParaRPr lang="en-US" sz="1400" dirty="0"/>
          </a:p>
        </p:txBody>
      </p:sp>
      <p:sp>
        <p:nvSpPr>
          <p:cNvPr id="9" name="Shape 7"/>
          <p:cNvSpPr/>
          <p:nvPr/>
        </p:nvSpPr>
        <p:spPr>
          <a:xfrm>
            <a:off x="6842455" y="0"/>
            <a:ext cx="3633826" cy="2286000"/>
          </a:xfrm>
          <a:prstGeom prst="rect">
            <a:avLst/>
          </a:prstGeom>
          <a:solidFill>
            <a:srgbClr val="0F241F"/>
          </a:solidFill>
          <a:ln/>
        </p:spPr>
      </p:sp>
      <p:sp>
        <p:nvSpPr>
          <p:cNvPr id="10" name="Text 8"/>
          <p:cNvSpPr/>
          <p:nvPr/>
        </p:nvSpPr>
        <p:spPr>
          <a:xfrm>
            <a:off x="7269480" y="1051560"/>
            <a:ext cx="3017520" cy="1005840"/>
          </a:xfrm>
          <a:prstGeom prst="rect">
            <a:avLst/>
          </a:prstGeom>
          <a:noFill/>
          <a:ln/>
        </p:spPr>
        <p:txBody>
          <a:bodyPr wrap="square" rtlCol="0" anchor="t"/>
          <a:lstStyle/>
          <a:p>
            <a:pPr algn="l" indent="0" marL="0">
              <a:lnSpc>
                <a:spcPct val="130000"/>
              </a:lnSpc>
              <a:buNone/>
            </a:pPr>
            <a:r>
              <a:rPr lang="en-US" sz="1600" dirty="0">
                <a:solidFill>
                  <a:srgbClr val="F0F0F0"/>
                </a:solidFill>
                <a:latin typeface="Poppins" pitchFamily="34" charset="0"/>
                <a:ea typeface="Poppins" pitchFamily="34" charset="-122"/>
                <a:cs typeface="Poppins" pitchFamily="34" charset="-120"/>
              </a:rPr>
              <a:t>Coupled electromagnetic fields and kinetic particles</a:t>
            </a:r>
            <a:endParaRPr lang="en-US" sz="1200" dirty="0"/>
          </a:p>
        </p:txBody>
      </p:sp>
      <p:sp>
        <p:nvSpPr>
          <p:cNvPr id="11" name="Text 9"/>
          <p:cNvSpPr/>
          <p:nvPr/>
        </p:nvSpPr>
        <p:spPr>
          <a:xfrm>
            <a:off x="7269480" y="502920"/>
            <a:ext cx="3017520" cy="457200"/>
          </a:xfrm>
          <a:prstGeom prst="rect">
            <a:avLst/>
          </a:prstGeom>
          <a:noFill/>
          <a:ln/>
        </p:spPr>
        <p:txBody>
          <a:bodyPr wrap="square" rtlCol="0" anchor="t"/>
          <a:lstStyle/>
          <a:p>
            <a:pPr algn="l" indent="0" marL="0">
              <a:buNone/>
            </a:pPr>
            <a:r>
              <a:rPr lang="en-US" sz="2400" dirty="0">
                <a:solidFill>
                  <a:srgbClr val="F0F0F0"/>
                </a:solidFill>
                <a:latin typeface="Lexend" pitchFamily="34" charset="0"/>
                <a:ea typeface="Lexend" pitchFamily="34" charset="-122"/>
                <a:cs typeface="Lexend" pitchFamily="34" charset="-120"/>
              </a:rPr>
              <a:t>Nonlinear</a:t>
            </a:r>
            <a:endParaRPr lang="en-US" sz="1400" dirty="0"/>
          </a:p>
        </p:txBody>
      </p:sp>
      <p:sp>
        <p:nvSpPr>
          <p:cNvPr id="12" name="Shape 10"/>
          <p:cNvSpPr/>
          <p:nvPr/>
        </p:nvSpPr>
        <p:spPr>
          <a:xfrm>
            <a:off x="6842455" y="4572000"/>
            <a:ext cx="3633826" cy="2286000"/>
          </a:xfrm>
          <a:prstGeom prst="rect">
            <a:avLst/>
          </a:prstGeom>
          <a:solidFill>
            <a:srgbClr val="E4E4E4"/>
          </a:solidFill>
          <a:ln/>
        </p:spPr>
      </p:sp>
      <p:sp>
        <p:nvSpPr>
          <p:cNvPr id="13" name="Text 11"/>
          <p:cNvSpPr/>
          <p:nvPr/>
        </p:nvSpPr>
        <p:spPr>
          <a:xfrm>
            <a:off x="7269480" y="5623560"/>
            <a:ext cx="3017520" cy="685800"/>
          </a:xfrm>
          <a:prstGeom prst="rect">
            <a:avLst/>
          </a:prstGeom>
          <a:noFill/>
          <a:ln/>
        </p:spPr>
        <p:txBody>
          <a:bodyPr wrap="square" rtlCol="0" anchor="t"/>
          <a:lstStyle/>
          <a:p>
            <a:pPr algn="l" indent="0" marL="0">
              <a:lnSpc>
                <a:spcPct val="130000"/>
              </a:lnSpc>
              <a:buNone/>
            </a:pPr>
            <a:r>
              <a:rPr lang="en-US" sz="1600" dirty="0">
                <a:solidFill>
                  <a:srgbClr val="000000"/>
                </a:solidFill>
                <a:latin typeface="Poppins" pitchFamily="34" charset="0"/>
                <a:ea typeface="Poppins" pitchFamily="34" charset="-122"/>
                <a:cs typeface="Poppins" pitchFamily="34" charset="-120"/>
              </a:rPr>
              <a:t>6D phase space: 3 position + 3 velocity</a:t>
            </a:r>
            <a:endParaRPr lang="en-US" sz="1200" dirty="0"/>
          </a:p>
        </p:txBody>
      </p:sp>
      <p:sp>
        <p:nvSpPr>
          <p:cNvPr id="14" name="Text 12"/>
          <p:cNvSpPr/>
          <p:nvPr/>
        </p:nvSpPr>
        <p:spPr>
          <a:xfrm>
            <a:off x="7269480" y="5074920"/>
            <a:ext cx="3017520" cy="457200"/>
          </a:xfrm>
          <a:prstGeom prst="rect">
            <a:avLst/>
          </a:prstGeom>
          <a:noFill/>
          <a:ln/>
        </p:spPr>
        <p:txBody>
          <a:bodyPr wrap="square" rtlCol="0" anchor="t"/>
          <a:lstStyle/>
          <a:p>
            <a:pPr algn="l" indent="0" marL="0">
              <a:buNone/>
            </a:pPr>
            <a:r>
              <a:rPr lang="en-US" sz="2400" dirty="0">
                <a:solidFill>
                  <a:srgbClr val="000000"/>
                </a:solidFill>
                <a:latin typeface="Lexend" pitchFamily="34" charset="0"/>
                <a:ea typeface="Lexend" pitchFamily="34" charset="-122"/>
                <a:cs typeface="Lexend" pitchFamily="34" charset="-120"/>
              </a:rPr>
              <a:t>High-dimensional</a:t>
            </a:r>
            <a:endParaRPr lang="en-US" sz="1400" dirty="0"/>
          </a:p>
        </p:txBody>
      </p:sp>
      <p:sp>
        <p:nvSpPr>
          <p:cNvPr id="15" name="Text 13"/>
          <p:cNvSpPr/>
          <p:nvPr/>
        </p:nvSpPr>
        <p:spPr>
          <a:xfrm>
            <a:off x="702259" y="3246120"/>
            <a:ext cx="2743200" cy="1097280"/>
          </a:xfrm>
          <a:prstGeom prst="rect">
            <a:avLst/>
          </a:prstGeom>
          <a:noFill/>
          <a:ln/>
        </p:spPr>
        <p:txBody>
          <a:bodyPr wrap="square" rtlCol="0" anchor="t"/>
          <a:lstStyle/>
          <a:p>
            <a:pPr algn="l" indent="0" marL="0">
              <a:buNone/>
            </a:pPr>
            <a:r>
              <a:rPr lang="en-US" sz="6600" dirty="0">
                <a:solidFill>
                  <a:srgbClr val="000000"/>
                </a:solidFill>
                <a:latin typeface="Lexend" pitchFamily="34" charset="0"/>
                <a:ea typeface="Lexend" pitchFamily="34" charset="-122"/>
                <a:cs typeface="Lexend" pitchFamily="34" charset="-120"/>
              </a:rPr>
              <a:t>10</a:t>
            </a:r>
            <a:r>
              <a:rPr lang="en-US" sz="6600" dirty="0" baseline="30000">
                <a:solidFill>
                  <a:srgbClr val="000000"/>
                </a:solidFill>
                <a:latin typeface="Lexend" pitchFamily="34" charset="0"/>
                <a:ea typeface="Lexend" pitchFamily="34" charset="-122"/>
                <a:cs typeface="Lexend" pitchFamily="34" charset="-120"/>
              </a:rPr>
              <a:t>6</a:t>
            </a:r>
            <a:r>
              <a:rPr lang="en-US" sz="6600" dirty="0">
                <a:solidFill>
                  <a:srgbClr val="000000"/>
                </a:solidFill>
                <a:latin typeface="Lexend" pitchFamily="34" charset="0"/>
                <a:ea typeface="Lexend" pitchFamily="34" charset="-122"/>
                <a:cs typeface="Lexend" pitchFamily="34" charset="-120"/>
              </a:rPr>
              <a:t>+</a:t>
            </a:r>
            <a:endParaRPr lang="en-US" sz="4800" dirty="0"/>
          </a:p>
        </p:txBody>
      </p:sp>
      <p:sp>
        <p:nvSpPr>
          <p:cNvPr id="16" name="Text 14"/>
          <p:cNvSpPr/>
          <p:nvPr/>
        </p:nvSpPr>
        <p:spPr>
          <a:xfrm>
            <a:off x="3429000" y="3675887"/>
            <a:ext cx="2926080" cy="457200"/>
          </a:xfrm>
          <a:prstGeom prst="rect">
            <a:avLst/>
          </a:prstGeom>
          <a:noFill/>
          <a:ln/>
        </p:spPr>
        <p:txBody>
          <a:bodyPr wrap="square" rtlCol="0" anchor="t"/>
          <a:lstStyle/>
          <a:p>
            <a:pPr algn="ctr" indent="0" marL="0">
              <a:lnSpc>
                <a:spcPct val="130000"/>
              </a:lnSpc>
              <a:buNone/>
            </a:pPr>
            <a:r>
              <a:rPr lang="en-US" sz="1600" dirty="0">
                <a:solidFill>
                  <a:srgbClr val="787878"/>
                </a:solidFill>
                <a:latin typeface="Poppins" pitchFamily="34" charset="0"/>
                <a:ea typeface="Poppins" pitchFamily="34" charset="-122"/>
                <a:cs typeface="Poppins" pitchFamily="34" charset="-120"/>
              </a:rPr>
              <a:t>timesteps per simulation</a:t>
            </a:r>
            <a:endParaRPr lang="en-US" sz="1200" dirty="0"/>
          </a:p>
        </p:txBody>
      </p:sp>
      <p:sp>
        <p:nvSpPr>
          <p:cNvPr id="17" name="Text 15"/>
          <p:cNvSpPr/>
          <p:nvPr/>
        </p:nvSpPr>
        <p:spPr>
          <a:xfrm>
            <a:off x="702259" y="4526280"/>
            <a:ext cx="5486400" cy="868680"/>
          </a:xfrm>
          <a:prstGeom prst="rect">
            <a:avLst/>
          </a:prstGeom>
          <a:noFill/>
          <a:ln/>
        </p:spPr>
        <p:txBody>
          <a:bodyPr wrap="square" rtlCol="0" anchor="t"/>
          <a:lstStyle/>
          <a:p>
            <a:pPr algn="l" indent="0" marL="0">
              <a:lnSpc>
                <a:spcPct val="130000"/>
              </a:lnSpc>
              <a:buNone/>
            </a:pPr>
            <a:r>
              <a:rPr lang="en-US" sz="1800" dirty="0">
                <a:solidFill>
                  <a:srgbClr val="000000"/>
                </a:solidFill>
                <a:latin typeface="Poppins" pitchFamily="34" charset="0"/>
                <a:ea typeface="Poppins" pitchFamily="34" charset="-122"/>
                <a:cs typeface="Poppins" pitchFamily="34" charset="-120"/>
              </a:rPr>
              <a:t>Tiny errors per step must not pile up over a million steps.</a:t>
            </a:r>
            <a:endParaRPr lang="en-US" sz="1200" dirty="0"/>
          </a:p>
        </p:txBody>
      </p:sp>
      <p:sp>
        <p:nvSpPr>
          <p:cNvPr id="18" name="Shape 16"/>
          <p:cNvSpPr/>
          <p:nvPr/>
        </p:nvSpPr>
        <p:spPr>
          <a:xfrm>
            <a:off x="722376" y="1097280"/>
            <a:ext cx="1280160" cy="102412"/>
          </a:xfrm>
          <a:prstGeom prst="roundRect">
            <a:avLst>
              <a:gd name="adj" fmla="val 50000"/>
            </a:avLst>
          </a:prstGeom>
          <a:solidFill>
            <a:srgbClr val="03BA81"/>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4</a:t>
            </a:r>
          </a:p>
        </p:txBody>
      </p:sp>
      <p:sp>
        <p:nvSpPr>
          <p:cNvPr id="25" name="Text 23"/>
          <p:cNvSpPr/>
          <p:nvPr/>
        </p:nvSpPr>
        <p:spPr>
          <a:xfrm>
            <a:off x="702259" y="978408"/>
            <a:ext cx="9356141" cy="769010"/>
          </a:xfrm>
          <a:prstGeom prst="rect">
            <a:avLst/>
          </a:prstGeom>
          <a:noFill/>
          <a:ln/>
        </p:spPr>
        <p:txBody>
          <a:bodyPr wrap="square" rtlCol="0" anchor="t"/>
          <a:lstStyle/>
          <a:p>
            <a:pPr algn="l" indent="0" marL="0">
              <a:buNone/>
            </a:pPr>
            <a:r>
              <a:rPr lang="en-US" sz="4400" dirty="0">
                <a:solidFill>
                  <a:srgbClr val="000000"/>
                </a:solidFill>
                <a:latin typeface="Lexend" pitchFamily="34" charset="0"/>
                <a:ea typeface="Lexend" pitchFamily="34" charset="-122"/>
                <a:cs typeface="Lexend" pitchFamily="34" charset="-120"/>
              </a:rPr>
              <a:t>RK4 drifts; </a:t>
            </a:r>
            <a:r>
              <a:rPr lang="en-US" sz="4400" dirty="0">
                <a:solidFill>
                  <a:srgbClr val="03BA81"/>
                </a:solidFill>
                <a:latin typeface="Lexend" pitchFamily="34" charset="0"/>
                <a:ea typeface="Lexend" pitchFamily="34" charset="-122"/>
                <a:cs typeface="Lexend" pitchFamily="34" charset="-120"/>
              </a:rPr>
              <a:t>structure holds</a:t>
            </a:r>
          </a:p>
        </p:txBody>
      </p:sp>
      <p:sp>
        <p:nvSpPr>
          <p:cNvPr id="26" name="Shape 24"/>
          <p:cNvSpPr/>
          <p:nvPr/>
        </p:nvSpPr>
        <p:spPr>
          <a:xfrm>
            <a:off x="3931920" y="875995"/>
            <a:ext cx="1273759" cy="102413"/>
          </a:xfrm>
          <a:prstGeom prst="roundRect">
            <a:avLst>
              <a:gd name="adj" fmla="val 50000"/>
            </a:avLst>
          </a:prstGeom>
          <a:solidFill>
            <a:srgbClr val="03BA81"/>
          </a:solidFill>
          <a:ln/>
        </p:spPr>
      </p:sp>
      <p:pic>
        <p:nvPicPr>
          <p:cNvPr id="100" name="Figure pusher Solovev"/>
          <p:cNvPicPr>
            <a:picLocks noChangeAspect="1"/>
          </p:cNvPicPr>
          <p:nvPr/>
        </p:nvPicPr>
        <p:blipFill>
          <a:blip r:embed="rIdG2a"/>
          <a:stretch>
            <a:fillRect/>
          </a:stretch>
        </p:blipFill>
        <p:spPr>
          <a:xfrm>
            <a:off x="502920" y="1874519"/>
            <a:ext cx="8549640" cy="3108960"/>
          </a:xfrm>
          <a:prstGeom prst="rect">
            <a:avLst/>
          </a:prstGeom>
          <a:solidFill>
            <a:srgbClr val="FFFFFF"/>
          </a:solidFill>
        </p:spPr>
      </p:pic>
      <p:pic>
        <p:nvPicPr>
          <p:cNvPr id="101" name="Figure orbit inset"/>
          <p:cNvPicPr>
            <a:picLocks noChangeAspect="1"/>
          </p:cNvPicPr>
          <p:nvPr/>
        </p:nvPicPr>
        <p:blipFill>
          <a:blip r:embed="rIdG2b"/>
          <a:stretch>
            <a:fillRect/>
          </a:stretch>
        </p:blipFill>
        <p:spPr>
          <a:xfrm>
            <a:off x="9372600" y="1874519"/>
            <a:ext cx="2487168" cy="3108960"/>
          </a:xfrm>
          <a:prstGeom prst="rect">
            <a:avLst/>
          </a:prstGeom>
          <a:solidFill>
            <a:srgbClr val="FFFFFF"/>
          </a:solidFill>
        </p:spPr>
      </p:pic>
      <p:sp>
        <p:nvSpPr>
          <p:cNvPr id="102" name="Takeaway"/>
          <p:cNvSpPr/>
          <p:nvPr/>
        </p:nvSpPr>
        <p:spPr>
          <a:xfrm>
            <a:off x="702259" y="5074920"/>
            <a:ext cx="10789920" cy="1188720"/>
          </a:xfrm>
          <a:prstGeom prst="rect">
            <a:avLst/>
          </a:prstGeom>
          <a:noFill/>
          <a:ln/>
        </p:spPr>
        <p:txBody>
          <a:bodyPr wrap="square" rtlCol="0" anchor="t"/>
          <a:lstStyle/>
          <a:p>
            <a:pPr algn="l">
              <a:spcAft>
                <a:spcPts val="600"/>
              </a:spcAft>
              <a:buNone/>
            </a:pPr>
            <a:r>
              <a:rPr lang="en-US" sz="1700" dirty="0">
                <a:solidFill>
                  <a:srgbClr val="000000"/>
                </a:solidFill>
                <a:latin typeface="Lexend"/>
                <a:cs typeface="Lexend"/>
              </a:rPr>
              <a:t>10</a:t>
            </a:r>
            <a:r>
              <a:rPr lang="en-US" sz="1700" dirty="0" baseline="30000">
                <a:solidFill>
                  <a:srgbClr val="000000"/>
                </a:solidFill>
                <a:latin typeface="Lexend"/>
                <a:cs typeface="Lexend"/>
              </a:rPr>
              <a:t>6</a:t>
            </a:r>
            <a:r>
              <a:rPr lang="en-US" sz="1700" dirty="0">
                <a:solidFill>
                  <a:srgbClr val="000000"/>
                </a:solidFill>
                <a:latin typeface="Lexend"/>
                <a:cs typeface="Lexend"/>
              </a:rPr>
              <a:t> steps, Solov'ev field: RK4 energy drifts 19%. </a:t>
            </a:r>
            <a:r>
              <a:rPr lang="en-US" sz="1700" dirty="0">
                <a:solidFill>
                  <a:srgbClr val="03BA81"/>
                </a:solidFill>
                <a:latin typeface="Lexend"/>
                <a:cs typeface="Lexend"/>
              </a:rPr>
              <a:t>Boris and TSDISCGRAD stay bounded.</a:t>
            </a:r>
            <a:endParaRPr lang="en-US" sz="17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4" name="Text 2"/>
          <p:cNvSpPr/>
          <p:nvPr/>
        </p:nvSpPr>
        <p:spPr>
          <a:xfrm>
            <a:off x="8876995" y="6320333"/>
            <a:ext cx="2920594" cy="312725"/>
          </a:xfrm>
          <a:prstGeom prst="rect">
            <a:avLst/>
          </a:prstGeom>
          <a:noFill/>
          <a:ln/>
        </p:spPr>
        <p:txBody>
          <a:bodyPr wrap="square" rtlCol="0" anchor="t"/>
          <a:lstStyle/>
          <a:p>
            <a:pPr algn="r">
              <a:buNone/>
            </a:pPr>
            <a:r>
              <a:rPr lang="en-US" sz="1200" dirty="0">
                <a:solidFill>
                  <a:srgbClr val="000000"/>
                </a:solidFill>
                <a:latin typeface="Poppins"/>
                <a:cs typeface="Poppins"/>
              </a:rPr>
              <a:t>14</a:t>
            </a:r>
            <a:endParaRPr lang="en-US" sz="1200"/>
          </a:p>
        </p:txBody>
      </p:sp>
      <p:sp>
        <p:nvSpPr>
          <p:cNvPr id="5" name="Shape 3"/>
          <p:cNvSpPr/>
          <p:nvPr/>
        </p:nvSpPr>
        <p:spPr>
          <a:xfrm>
            <a:off x="0" y="0"/>
            <a:ext cx="7121347" cy="6858000"/>
          </a:xfrm>
          <a:prstGeom prst="rect">
            <a:avLst/>
          </a:prstGeom>
          <a:solidFill>
            <a:srgbClr val="03BA81"/>
          </a:solidFill>
          <a:ln/>
        </p:spPr>
      </p:sp>
      <p:sp>
        <p:nvSpPr>
          <p:cNvPr id="6" name="Text 4"/>
          <p:cNvSpPr/>
          <p:nvPr/>
        </p:nvSpPr>
        <p:spPr>
          <a:xfrm>
            <a:off x="394106" y="228600"/>
            <a:ext cx="5486400" cy="309067"/>
          </a:xfrm>
          <a:prstGeom prst="rect">
            <a:avLst/>
          </a:prstGeom>
          <a:noFill/>
          <a:ln/>
        </p:spPr>
        <p:txBody>
          <a:bodyPr wrap="square" rtlCol="0" anchor="t"/>
          <a:lstStyle/>
          <a:p>
            <a:pPr algn="l">
              <a:buNone/>
            </a:pPr>
            <a:r>
              <a:rPr lang="en-US" sz="1200" dirty="0">
                <a:solidFill>
                  <a:srgbClr val="0F241F"/>
                </a:solidFill>
                <a:latin typeface="Lexend"/>
                <a:cs typeface="Lexend"/>
              </a:rPr>
              <a:t>CCS 2026 · Sharma &amp; Knepley</a:t>
            </a:r>
            <a:endParaRPr lang="en-US" sz="1200"/>
          </a:p>
        </p:txBody>
      </p:sp>
      <p:sp>
        <p:nvSpPr>
          <p:cNvPr id="7" name="Text 5"/>
          <p:cNvSpPr/>
          <p:nvPr/>
        </p:nvSpPr>
        <p:spPr>
          <a:xfrm>
            <a:off x="394106" y="6320333"/>
            <a:ext cx="5486400" cy="312725"/>
          </a:xfrm>
          <a:prstGeom prst="rect">
            <a:avLst/>
          </a:prstGeom>
          <a:noFill/>
          <a:ln/>
        </p:spPr>
        <p:txBody>
          <a:bodyPr wrap="square" rtlCol="0" anchor="t"/>
          <a:lstStyle/>
          <a:p>
            <a:pPr algn="l">
              <a:buNone/>
            </a:pPr>
            <a:r>
              <a:rPr lang="en-US" sz="1200" dirty="0">
                <a:solidFill>
                  <a:srgbClr val="0F241F"/>
                </a:solidFill>
                <a:latin typeface="Poppins"/>
                <a:cs typeface="Poppins"/>
              </a:rPr>
              <a:t>University at Buffalo (SUNY)</a:t>
            </a:r>
            <a:endParaRPr lang="en-US" sz="1200"/>
          </a:p>
        </p:txBody>
      </p:sp>
      <p:sp>
        <p:nvSpPr>
          <p:cNvPr id="8" name="Text 6"/>
          <p:cNvSpPr/>
          <p:nvPr/>
        </p:nvSpPr>
        <p:spPr>
          <a:xfrm>
            <a:off x="548640" y="868680"/>
            <a:ext cx="6035040" cy="731520"/>
          </a:xfrm>
          <a:prstGeom prst="rect">
            <a:avLst/>
          </a:prstGeom>
          <a:noFill/>
          <a:ln/>
        </p:spPr>
        <p:txBody>
          <a:bodyPr wrap="square" rtlCol="0" anchor="t"/>
          <a:lstStyle/>
          <a:p>
            <a:pPr algn="l">
              <a:buNone/>
            </a:pPr>
            <a:r>
              <a:rPr lang="en-US" sz="3600" dirty="0">
                <a:solidFill>
                  <a:srgbClr val="0F241F"/>
                </a:solidFill>
                <a:latin typeface="Lexend"/>
                <a:cs typeface="Lexend"/>
              </a:rPr>
              <a:t>Takeaways</a:t>
            </a:r>
            <a:endParaRPr lang="en-US" sz="3600"/>
          </a:p>
        </p:txBody>
      </p:sp>
      <p:sp>
        <p:nvSpPr>
          <p:cNvPr id="50" name="Text 48"/>
          <p:cNvSpPr/>
          <p:nvPr/>
        </p:nvSpPr>
        <p:spPr>
          <a:xfrm>
            <a:off x="548640" y="1783080"/>
            <a:ext cx="6126480" cy="2743200"/>
          </a:xfrm>
          <a:prstGeom prst="rect">
            <a:avLst/>
          </a:prstGeom>
          <a:noFill/>
          <a:ln/>
        </p:spPr>
        <p:txBody>
          <a:bodyPr wrap="square" rtlCol="0" anchor="t"/>
          <a:lstStyle/>
          <a:p>
            <a:pPr algn="l">
              <a:spcAft>
                <a:spcPts val="1400"/>
              </a:spcAft>
              <a:buNone/>
            </a:pPr>
            <a:r>
              <a:rPr lang="en-US" sz="2000" dirty="0">
                <a:solidFill>
                  <a:srgbClr val="FFFFFF"/>
                </a:solidFill>
                <a:latin typeface="Lexend"/>
                <a:cs typeface="Lexend"/>
              </a:rPr>
              <a:t>01   </a:t>
            </a:r>
            <a:r>
              <a:rPr lang="en-US" sz="2000" dirty="0">
                <a:solidFill>
                  <a:srgbClr val="0F241F"/>
                </a:solidFill>
                <a:latin typeface="Poppins"/>
                <a:cs typeface="Poppins"/>
              </a:rPr>
              <a:t>Structure-preserving methods keep invariants where RK4 drifts.</a:t>
            </a:r>
            <a:endParaRPr lang="en-US" sz="2000"/>
          </a:p>
          <a:p>
            <a:pPr algn="l">
              <a:spcAft>
                <a:spcPts val="1400"/>
              </a:spcAft>
              <a:buNone/>
            </a:pPr>
            <a:r>
              <a:rPr lang="en-US" sz="2000" dirty="0">
                <a:solidFill>
                  <a:srgbClr val="FFFFFF"/>
                </a:solidFill>
                <a:latin typeface="Lexend"/>
                <a:cs typeface="Lexend"/>
              </a:rPr>
              <a:t>02   </a:t>
            </a:r>
            <a:r>
              <a:rPr lang="en-US" sz="2000" dirty="0">
                <a:solidFill>
                  <a:srgbClr val="0F241F"/>
                </a:solidFill>
                <a:latin typeface="Poppins"/>
                <a:cs typeface="Poppins"/>
              </a:rPr>
              <a:t>Conservation checks make AI-generated code verifiable.</a:t>
            </a:r>
            <a:endParaRPr lang="en-US" sz="2000"/>
          </a:p>
          <a:p>
            <a:pPr algn="l">
              <a:spcAft>
                <a:spcPts val="1400"/>
              </a:spcAft>
              <a:buNone/>
            </a:pPr>
            <a:r>
              <a:rPr lang="en-US" sz="2000" dirty="0">
                <a:solidFill>
                  <a:srgbClr val="FFFFFF"/>
                </a:solidFill>
                <a:latin typeface="Lexend"/>
                <a:cs typeface="Lexend"/>
              </a:rPr>
              <a:t>03   </a:t>
            </a:r>
            <a:r>
              <a:rPr lang="en-US" sz="2000" dirty="0">
                <a:solidFill>
                  <a:srgbClr val="0F241F"/>
                </a:solidFill>
                <a:latin typeface="Poppins"/>
                <a:cs typeface="Poppins"/>
              </a:rPr>
              <a:t>We fixed a real scaling bottleneck; ex2 now runs on 64 Aurora nodes.</a:t>
            </a:r>
            <a:endParaRPr lang="en-US" sz="2000"/>
          </a:p>
        </p:txBody>
      </p:sp>
      <p:sp>
        <p:nvSpPr>
          <p:cNvPr id="51" name="Text 49"/>
          <p:cNvSpPr/>
          <p:nvPr/>
        </p:nvSpPr>
        <p:spPr>
          <a:xfrm>
            <a:off x="548640" y="4572000"/>
            <a:ext cx="6126480" cy="1280160"/>
          </a:xfrm>
          <a:prstGeom prst="rect">
            <a:avLst/>
          </a:prstGeom>
          <a:noFill/>
          <a:ln/>
        </p:spPr>
        <p:txBody>
          <a:bodyPr wrap="square" rtlCol="0" anchor="t"/>
          <a:lstStyle/>
          <a:p>
            <a:pPr algn="l">
              <a:spcAft>
                <a:spcPts val="600"/>
              </a:spcAft>
              <a:buNone/>
            </a:pPr>
            <a:r>
              <a:rPr lang="en-US" sz="2000" dirty="0">
                <a:solidFill>
                  <a:srgbClr val="0F241F"/>
                </a:solidFill>
                <a:latin typeface="Lexend"/>
                <a:cs typeface="Lexend"/>
              </a:rPr>
              <a:t>ss694@buffalo.edu</a:t>
            </a:r>
            <a:endParaRPr lang="en-US" sz="2000"/>
          </a:p>
          <a:p>
            <a:pPr algn="l">
              <a:buNone/>
            </a:pPr>
            <a:r>
              <a:rPr lang="en-US" sz="1300" dirty="0">
                <a:solidFill>
                  <a:srgbClr val="0F241F"/>
                </a:solidFill>
                <a:latin typeface="Poppins"/>
                <a:cs typeface="Poppins"/>
              </a:rPr>
              <a:t>Thanks: ALCF Director’s Discretionary allocation (DD_plasma_physics) on Aurora and Polaris, Argonne National Laboratory.</a:t>
            </a:r>
            <a:endParaRPr lang="en-US" sz="1300"/>
          </a:p>
        </p:txBody>
      </p:sp>
      <p:sp>
        <p:nvSpPr>
          <p:cNvPr id="53" name="Text 51"/>
          <p:cNvSpPr/>
          <p:nvPr/>
        </p:nvSpPr>
        <p:spPr>
          <a:xfrm>
            <a:off x="7528255" y="868680"/>
            <a:ext cx="4206240" cy="822960"/>
          </a:xfrm>
          <a:prstGeom prst="rect">
            <a:avLst/>
          </a:prstGeom>
          <a:noFill/>
          <a:ln/>
        </p:spPr>
        <p:txBody>
          <a:bodyPr wrap="square" rtlCol="0" anchor="t"/>
          <a:lstStyle/>
          <a:p>
            <a:pPr algn="l">
              <a:buNone/>
            </a:pPr>
            <a:r>
              <a:rPr lang="en-US" sz="4400" dirty="0">
                <a:solidFill>
                  <a:srgbClr val="000000"/>
                </a:solidFill>
                <a:latin typeface="Lexend"/>
                <a:cs typeface="Lexend"/>
              </a:rPr>
              <a:t>Next steps</a:t>
            </a:r>
            <a:endParaRPr lang="en-US" sz="4400"/>
          </a:p>
        </p:txBody>
      </p:sp>
      <p:sp>
        <p:nvSpPr>
          <p:cNvPr id="54" name="Text 52"/>
          <p:cNvSpPr/>
          <p:nvPr/>
        </p:nvSpPr>
        <p:spPr>
          <a:xfrm>
            <a:off x="7528255" y="1783080"/>
            <a:ext cx="4206240" cy="2194560"/>
          </a:xfrm>
          <a:prstGeom prst="rect">
            <a:avLst/>
          </a:prstGeom>
          <a:noFill/>
          <a:ln/>
        </p:spPr>
        <p:txBody>
          <a:bodyPr wrap="square" rtlCol="0" anchor="t"/>
          <a:lstStyle/>
          <a:p>
            <a:pPr algn="l" marL="285750" indent="-285750">
              <a:spcAft>
                <a:spcPts val="0"/>
              </a:spcAft>
              <a:buClr>
                <a:srgbClr val="03BA81"/>
              </a:buClr>
              <a:buFont typeface="Arial"/>
              <a:buChar char="•"/>
            </a:pPr>
            <a:r>
              <a:rPr lang="en-US" sz="1800" dirty="0" b="1">
                <a:solidFill>
                  <a:srgbClr val="000000"/>
                </a:solidFill>
                <a:latin typeface="Poppins"/>
                <a:cs typeface="Poppins"/>
              </a:rPr>
              <a:t>Energy-conserving PIC</a:t>
            </a:r>
            <a:endParaRPr lang="en-US" sz="1800"/>
          </a:p>
          <a:p>
            <a:pPr algn="l" marL="285750" indent="-285750">
              <a:spcAft>
                <a:spcPts val="800"/>
              </a:spcAft>
              <a:buClr>
                <a:srgbClr val="03BA81"/>
              </a:buClr>
              <a:buFont typeface="Arial"/>
              <a:buChar char="•"/>
            </a:pPr>
            <a:r>
              <a:rPr lang="en-US" sz="1800" dirty="0">
                <a:solidFill>
                  <a:srgbClr val="000000"/>
                </a:solidFill>
                <a:latin typeface="Poppins"/>
                <a:cs typeface="Poppins"/>
              </a:rPr>
              <a:t>GPU-resident particles</a:t>
            </a:r>
            <a:endParaRPr lang="en-US" sz="1800"/>
          </a:p>
          <a:p>
            <a:pPr algn="l" marL="285750" indent="-285750">
              <a:spcAft>
                <a:spcPts val="800"/>
              </a:spcAft>
              <a:buClr>
                <a:srgbClr val="03BA81"/>
              </a:buClr>
              <a:buFont typeface="Arial"/>
              <a:buChar char="•"/>
            </a:pPr>
            <a:r>
              <a:rPr lang="en-US" sz="1800" dirty="0">
                <a:solidFill>
                  <a:srgbClr val="000000"/>
                </a:solidFill>
                <a:latin typeface="Poppins"/>
                <a:cs typeface="Poppins"/>
              </a:rPr>
              <a:t>End-to-end LLM agent loop</a:t>
            </a:r>
            <a:endParaRPr lang="en-US" sz="1800"/>
          </a:p>
          <a:p>
            <a:pPr algn="l" marL="285750" indent="-285750">
              <a:spcAft>
                <a:spcPts val="800"/>
              </a:spcAft>
              <a:buClr>
                <a:srgbClr val="03BA81"/>
              </a:buClr>
              <a:buFont typeface="Arial"/>
              <a:buChar char="•"/>
            </a:pPr>
            <a:r>
              <a:rPr lang="en-US" sz="1800" dirty="0">
                <a:solidFill>
                  <a:srgbClr val="000000"/>
                </a:solidFill>
                <a:latin typeface="Poppins"/>
                <a:cs typeface="Poppins"/>
              </a:rPr>
              <a:t>Aurora beyond 64 nodes</a:t>
            </a:r>
            <a:endParaRPr lang="en-US" sz="1800"/>
          </a:p>
          <a:p>
            <a:pPr algn="l" marL="285750" indent="-285750">
              <a:spcAft>
                <a:spcPts val="0"/>
              </a:spcAft>
              <a:buClr>
                <a:srgbClr val="03BA81"/>
              </a:buClr>
              <a:buFont typeface="Arial"/>
              <a:buChar char="•"/>
            </a:pPr>
            <a:r>
              <a:rPr lang="en-US" sz="1800" dirty="0">
                <a:solidFill>
                  <a:srgbClr val="000000"/>
                </a:solidFill>
                <a:latin typeface="Poppins"/>
                <a:cs typeface="Poppins"/>
              </a:rPr>
              <a:t>3D and FEEC</a:t>
            </a:r>
            <a:endParaRPr lang="en-US" sz="1800"/>
          </a:p>
        </p:txBody>
      </p:sp>
      <p:sp>
        <p:nvSpPr>
          <p:cNvPr id="55" name="Shape 53"/>
          <p:cNvSpPr/>
          <p:nvPr/>
        </p:nvSpPr>
        <p:spPr>
          <a:xfrm>
            <a:off x="7608722" y="3938321"/>
            <a:ext cx="3198571" cy="3650285"/>
          </a:xfrm>
          <a:prstGeom prst="rect">
            <a:avLst/>
          </a:prstGeom>
          <a:noFill/>
          <a:ln w="34925">
            <a:solidFill>
              <a:srgbClr val="D8D8D8">
                <a:alpha val="38000"/>
              </a:srgbClr>
            </a:solidFill>
            <a:prstDash val="solid"/>
          </a:ln>
        </p:spPr>
      </p:sp>
      <p:sp>
        <p:nvSpPr>
          <p:cNvPr id="56" name="Shape 54"/>
          <p:cNvSpPr/>
          <p:nvPr/>
        </p:nvSpPr>
        <p:spPr>
          <a:xfrm>
            <a:off x="10807294" y="3938321"/>
            <a:ext cx="3650285" cy="3650285"/>
          </a:xfrm>
          <a:prstGeom prst="chord">
            <a:avLst>
              <a:gd name="adj1" fmla="val 5421336"/>
              <a:gd name="adj2" fmla="val 16200000"/>
            </a:avLst>
          </a:prstGeom>
          <a:noFill/>
          <a:ln w="34925">
            <a:solidFill>
              <a:srgbClr val="D8D8D8">
                <a:alpha val="38000"/>
              </a:srgbClr>
            </a:solidFill>
            <a:prstDash val="solid"/>
          </a:ln>
        </p:spPr>
      </p:sp>
      <p:pic>
        <p:nvPicPr>
          <p:cNvPr id="71" name="Picture 71" descr="Aurora supercomputer, Argonne Leadership Computing Facility"/>
          <p:cNvPicPr>
            <a:picLocks noChangeAspect="1"/>
          </p:cNvPicPr>
          <p:nvPr/>
        </p:nvPicPr>
        <p:blipFill>
          <a:blip r:embed="rIdG4c"/>
          <a:stretch>
            <a:fillRect/>
          </a:stretch>
        </p:blipFill>
        <p:spPr>
          <a:xfrm>
            <a:off x="7699248" y="4041648"/>
            <a:ext cx="3017520" cy="169794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algn="l">
              <a:buNone/>
            </a:pPr>
            <a:r>
              <a:rPr lang="en-US" sz="1200" dirty="0">
                <a:solidFill>
                  <a:srgbClr val="000000"/>
                </a:solidFill>
                <a:latin typeface="Lexend"/>
                <a:cs typeface="Lexend"/>
              </a:rPr>
              <a:t>CCS 2026 · Sharma &amp; Knepley</a:t>
            </a:r>
            <a:endParaRPr lang="en-US" sz="1200"/>
          </a:p>
        </p:txBody>
      </p:sp>
      <p:sp>
        <p:nvSpPr>
          <p:cNvPr id="3" name="Text 1"/>
          <p:cNvSpPr/>
          <p:nvPr/>
        </p:nvSpPr>
        <p:spPr>
          <a:xfrm>
            <a:off x="394106" y="6320333"/>
            <a:ext cx="5486400" cy="312725"/>
          </a:xfrm>
          <a:prstGeom prst="rect">
            <a:avLst/>
          </a:prstGeom>
          <a:noFill/>
          <a:ln/>
        </p:spPr>
        <p:txBody>
          <a:bodyPr wrap="square" rtlCol="0" anchor="t"/>
          <a:lstStyle/>
          <a:p>
            <a:pPr algn="l">
              <a:buNone/>
            </a:pPr>
            <a:r>
              <a:rPr lang="en-US" sz="1200" dirty="0">
                <a:solidFill>
                  <a:srgbClr val="000000"/>
                </a:solidFill>
                <a:latin typeface="Poppins"/>
                <a:cs typeface="Poppins"/>
              </a:rPr>
              <a:t>University at Buffalo (SUNY)</a:t>
            </a:r>
            <a:endParaRPr lang="en-US" sz="1200"/>
          </a:p>
        </p:txBody>
      </p:sp>
      <p:sp>
        <p:nvSpPr>
          <p:cNvPr id="4" name="Text 2"/>
          <p:cNvSpPr/>
          <p:nvPr/>
        </p:nvSpPr>
        <p:spPr>
          <a:xfrm>
            <a:off x="8876995" y="6320333"/>
            <a:ext cx="2920594" cy="312725"/>
          </a:xfrm>
          <a:prstGeom prst="rect">
            <a:avLst/>
          </a:prstGeom>
          <a:noFill/>
          <a:ln/>
        </p:spPr>
        <p:txBody>
          <a:bodyPr wrap="square" rtlCol="0" anchor="t"/>
          <a:lstStyle/>
          <a:p>
            <a:pPr algn="r">
              <a:buNone/>
            </a:pPr>
            <a:r>
              <a:rPr lang="en-US" sz="1200" dirty="0">
                <a:solidFill>
                  <a:srgbClr val="000000"/>
                </a:solidFill>
                <a:latin typeface="Poppins"/>
                <a:cs typeface="Poppins"/>
              </a:rPr>
              <a:t>12</a:t>
            </a:r>
            <a:endParaRPr lang="en-US" sz="1200"/>
          </a:p>
        </p:txBody>
      </p:sp>
      <p:sp>
        <p:nvSpPr>
          <p:cNvPr id="25" name="Text 23"/>
          <p:cNvSpPr/>
          <p:nvPr/>
        </p:nvSpPr>
        <p:spPr>
          <a:xfrm>
            <a:off x="612648" y="841248"/>
            <a:ext cx="10972800" cy="777240"/>
          </a:xfrm>
          <a:prstGeom prst="rect">
            <a:avLst/>
          </a:prstGeom>
          <a:noFill/>
          <a:ln/>
        </p:spPr>
        <p:txBody>
          <a:bodyPr wrap="square" rtlCol="0" anchor="t"/>
          <a:lstStyle/>
          <a:p>
            <a:pPr algn="l">
              <a:buNone/>
            </a:pPr>
            <a:r>
              <a:rPr lang="en-US" sz="4000" dirty="0">
                <a:solidFill>
                  <a:srgbClr val="000000"/>
                </a:solidFill>
                <a:latin typeface="Lexend"/>
                <a:cs typeface="Lexend"/>
              </a:rPr>
              <a:t>Weak scaling: </a:t>
            </a:r>
            <a:r>
              <a:rPr lang="en-US" sz="4000" dirty="0">
                <a:solidFill>
                  <a:srgbClr val="03BA81"/>
                </a:solidFill>
                <a:latin typeface="Lexend"/>
                <a:cs typeface="Lexend"/>
              </a:rPr>
              <a:t>fixed, then 64 nodes</a:t>
            </a:r>
            <a:endParaRPr lang="en-US" sz="4000"/>
          </a:p>
        </p:txBody>
      </p:sp>
      <p:sp>
        <p:nvSpPr>
          <p:cNvPr id="26" name="Shape 24"/>
          <p:cNvSpPr/>
          <p:nvPr/>
        </p:nvSpPr>
        <p:spPr>
          <a:xfrm>
            <a:off x="612648" y="658368"/>
            <a:ext cx="1273759" cy="102413"/>
          </a:xfrm>
          <a:prstGeom prst="roundRect">
            <a:avLst>
              <a:gd name="adj" fmla="val 50000"/>
            </a:avLst>
          </a:prstGeom>
          <a:solidFill>
            <a:srgbClr val="03BA81"/>
          </a:solidFill>
          <a:ln/>
        </p:spPr>
      </p:sp>
      <p:sp>
        <p:nvSpPr>
          <p:cNvPr id="75" name="TextBox 75"/>
          <p:cNvSpPr txBox="1">
            <a:spLocks noGrp="1"/>
          </p:cNvSpPr>
          <p:nvPr/>
        </p:nvSpPr>
        <p:spPr>
          <a:xfrm>
            <a:off x="612648" y="5120640"/>
            <a:ext cx="10972800" cy="1143000"/>
          </a:xfrm>
          <a:prstGeom prst="rect">
            <a:avLst/>
          </a:prstGeom>
          <a:noFill/>
        </p:spPr>
        <p:txBody>
          <a:bodyPr lIns="0" tIns="0" rIns="0" bIns="0" wrap="square"/>
          <a:lstStyle/>
          <a:p>
            <a:pPr algn="l">
              <a:spcAft>
                <a:spcPts val="600"/>
              </a:spcAft>
              <a:buNone/>
            </a:pPr>
            <a:r>
              <a:rPr lang="en-US" sz="1500" dirty="0" b="1">
                <a:solidFill>
                  <a:srgbClr val="03BA81"/>
                </a:solidFill>
                <a:latin typeface="Poppins"/>
                <a:cs typeface="Poppins"/>
              </a:rPr>
              <a:t>Cause: </a:t>
            </a:r>
            <a:r>
              <a:rPr lang="en-US" sz="1500" dirty="0">
                <a:solidFill>
                  <a:srgbClr val="000000"/>
                </a:solidFill>
                <a:latin typeface="Poppins"/>
                <a:cs typeface="Poppins"/>
              </a:rPr>
              <a:t>one rank’s point-location hash spanned the whole domain (up to 41× the work); a local ex2 patch fixed it.</a:t>
            </a:r>
            <a:endParaRPr lang="en-US" sz="1500"/>
          </a:p>
        </p:txBody>
      </p:sp>
      <p:pic>
        <p:nvPicPr>
          <p:cNvPr id="70" name="Picture 70" descr="Weak-scaling efficiency vs 1 node on Aurora (1-64 nodes) and Polaris (1-8 nodes), before and after the fix"/>
          <p:cNvPicPr>
            <a:picLocks noChangeAspect="1"/>
          </p:cNvPicPr>
          <p:nvPr/>
        </p:nvPicPr>
        <p:blipFill>
          <a:blip r:embed="rIdG4b"/>
          <a:stretch>
            <a:fillRect/>
          </a:stretch>
        </p:blipFill>
        <p:spPr>
          <a:xfrm>
            <a:off x="502920" y="1691640"/>
            <a:ext cx="5284381" cy="3246120"/>
          </a:xfrm>
          <a:prstGeom prst="rect">
            <a:avLst/>
          </a:prstGeom>
        </p:spPr>
      </p:pic>
      <p:sp>
        <p:nvSpPr>
          <p:cNvPr id="71" name="TextBox 71"/>
          <p:cNvSpPr txBox="1">
            <a:spLocks noGrp="1"/>
          </p:cNvSpPr>
          <p:nvPr/>
        </p:nvSpPr>
        <p:spPr>
          <a:xfrm>
            <a:off x="6263640" y="1691640"/>
            <a:ext cx="2697480" cy="868680"/>
          </a:xfrm>
          <a:prstGeom prst="rect">
            <a:avLst/>
          </a:prstGeom>
          <a:noFill/>
        </p:spPr>
        <p:txBody>
          <a:bodyPr lIns="0" tIns="0" rIns="0" bIns="0" wrap="square"/>
          <a:lstStyle/>
          <a:p>
            <a:pPr algn="l">
              <a:buNone/>
            </a:pPr>
            <a:r>
              <a:rPr lang="en-US" sz="5400" dirty="0">
                <a:solidFill>
                  <a:srgbClr val="03BA81"/>
                </a:solidFill>
                <a:latin typeface="Lexend"/>
                <a:cs typeface="Lexend"/>
              </a:rPr>
              <a:t>58%</a:t>
            </a:r>
            <a:endParaRPr lang="en-US" sz="5400"/>
          </a:p>
        </p:txBody>
      </p:sp>
      <p:sp>
        <p:nvSpPr>
          <p:cNvPr id="72" name="TextBox 72"/>
          <p:cNvSpPr txBox="1">
            <a:spLocks noGrp="1"/>
          </p:cNvSpPr>
          <p:nvPr/>
        </p:nvSpPr>
        <p:spPr>
          <a:xfrm>
            <a:off x="6263640" y="2560320"/>
            <a:ext cx="2697480" cy="685800"/>
          </a:xfrm>
          <a:prstGeom prst="rect">
            <a:avLst/>
          </a:prstGeom>
          <a:noFill/>
        </p:spPr>
        <p:txBody>
          <a:bodyPr lIns="0" tIns="0" rIns="0" bIns="0" wrap="square"/>
          <a:lstStyle/>
          <a:p>
            <a:pPr algn="l">
              <a:buNone/>
            </a:pPr>
            <a:r>
              <a:rPr lang="en-US" sz="1300" dirty="0">
                <a:solidFill>
                  <a:srgbClr val="000000"/>
                </a:solidFill>
                <a:latin typeface="Poppins"/>
                <a:cs typeface="Poppins"/>
              </a:rPr>
              <a:t>efficiency at 64 Aurora nodes (6,144 ranks)</a:t>
            </a:r>
            <a:endParaRPr lang="en-US" sz="1300"/>
          </a:p>
        </p:txBody>
      </p:sp>
      <p:sp>
        <p:nvSpPr>
          <p:cNvPr id="73" name="TextBox 73"/>
          <p:cNvSpPr txBox="1">
            <a:spLocks noGrp="1"/>
          </p:cNvSpPr>
          <p:nvPr/>
        </p:nvSpPr>
        <p:spPr>
          <a:xfrm>
            <a:off x="9098280" y="1691640"/>
            <a:ext cx="2697480" cy="868680"/>
          </a:xfrm>
          <a:prstGeom prst="rect">
            <a:avLst/>
          </a:prstGeom>
          <a:noFill/>
        </p:spPr>
        <p:txBody>
          <a:bodyPr lIns="0" tIns="0" rIns="0" bIns="0" wrap="square"/>
          <a:lstStyle/>
          <a:p>
            <a:pPr algn="l">
              <a:buNone/>
            </a:pPr>
            <a:r>
              <a:rPr lang="en-US" sz="5400" dirty="0">
                <a:solidFill>
                  <a:srgbClr val="000000"/>
                </a:solidFill>
                <a:latin typeface="Lexend"/>
                <a:cs typeface="Lexend"/>
              </a:rPr>
              <a:t>315 M</a:t>
            </a:r>
            <a:endParaRPr lang="en-US" sz="5400"/>
          </a:p>
        </p:txBody>
      </p:sp>
      <p:sp>
        <p:nvSpPr>
          <p:cNvPr id="74" name="TextBox 74"/>
          <p:cNvSpPr txBox="1">
            <a:spLocks noGrp="1"/>
          </p:cNvSpPr>
          <p:nvPr/>
        </p:nvSpPr>
        <p:spPr>
          <a:xfrm>
            <a:off x="9098280" y="2560320"/>
            <a:ext cx="2697480" cy="685800"/>
          </a:xfrm>
          <a:prstGeom prst="rect">
            <a:avLst/>
          </a:prstGeom>
          <a:noFill/>
        </p:spPr>
        <p:txBody>
          <a:bodyPr lIns="0" tIns="0" rIns="0" bIns="0" wrap="square"/>
          <a:lstStyle/>
          <a:p>
            <a:pPr algn="l">
              <a:buNone/>
            </a:pPr>
            <a:r>
              <a:rPr lang="en-US" sz="1300" dirty="0">
                <a:solidFill>
                  <a:srgbClr val="000000"/>
                </a:solidFill>
                <a:latin typeface="Poppins"/>
                <a:cs typeface="Poppins"/>
              </a:rPr>
              <a:t>particles at 64 nodes, none lost</a:t>
            </a:r>
            <a:endParaRPr lang="en-US" sz="1300"/>
          </a:p>
        </p:txBody>
      </p:sp>
      <p:sp>
        <p:nvSpPr>
          <p:cNvPr id="76" name="TextBox 76"/>
          <p:cNvSpPr txBox="1">
            <a:spLocks noGrp="1"/>
          </p:cNvSpPr>
          <p:nvPr/>
        </p:nvSpPr>
        <p:spPr>
          <a:xfrm>
            <a:off x="6263640" y="3383280"/>
            <a:ext cx="2697480" cy="868680"/>
          </a:xfrm>
          <a:prstGeom prst="rect">
            <a:avLst/>
          </a:prstGeom>
          <a:noFill/>
        </p:spPr>
        <p:txBody>
          <a:bodyPr lIns="0" tIns="0" rIns="0" bIns="0" wrap="square"/>
          <a:lstStyle/>
          <a:p>
            <a:pPr algn="l">
              <a:buNone/>
            </a:pPr>
            <a:r>
              <a:rPr lang="en-US" sz="5400" dirty="0">
                <a:solidFill>
                  <a:srgbClr val="03BA81"/>
                </a:solidFill>
                <a:latin typeface="Lexend"/>
                <a:cs typeface="Lexend"/>
              </a:rPr>
              <a:t>12×</a:t>
            </a:r>
            <a:endParaRPr lang="en-US" sz="5400"/>
          </a:p>
        </p:txBody>
      </p:sp>
      <p:sp>
        <p:nvSpPr>
          <p:cNvPr id="77" name="TextBox 77"/>
          <p:cNvSpPr txBox="1">
            <a:spLocks noGrp="1"/>
          </p:cNvSpPr>
          <p:nvPr/>
        </p:nvSpPr>
        <p:spPr>
          <a:xfrm>
            <a:off x="6263640" y="4251960"/>
            <a:ext cx="2697480" cy="685800"/>
          </a:xfrm>
          <a:prstGeom prst="rect">
            <a:avLst/>
          </a:prstGeom>
          <a:noFill/>
        </p:spPr>
        <p:txBody>
          <a:bodyPr lIns="0" tIns="0" rIns="0" bIns="0" wrap="square"/>
          <a:lstStyle/>
          <a:p>
            <a:pPr algn="l">
              <a:buNone/>
            </a:pPr>
            <a:r>
              <a:rPr lang="en-US" sz="1300" dirty="0">
                <a:solidFill>
                  <a:srgbClr val="000000"/>
                </a:solidFill>
                <a:latin typeface="Poppins"/>
                <a:cs typeface="Poppins"/>
              </a:rPr>
              <a:t>faster per step after the fix</a:t>
            </a:r>
            <a:endParaRPr lang="en-US" sz="1300"/>
          </a:p>
        </p:txBody>
      </p:sp>
      <p:sp>
        <p:nvSpPr>
          <p:cNvPr id="78" name="TextBox 78"/>
          <p:cNvSpPr txBox="1">
            <a:spLocks noGrp="1"/>
          </p:cNvSpPr>
          <p:nvPr/>
        </p:nvSpPr>
        <p:spPr>
          <a:xfrm>
            <a:off x="9098280" y="3383280"/>
            <a:ext cx="2697480" cy="868680"/>
          </a:xfrm>
          <a:prstGeom prst="rect">
            <a:avLst/>
          </a:prstGeom>
          <a:noFill/>
        </p:spPr>
        <p:txBody>
          <a:bodyPr lIns="0" tIns="0" rIns="0" bIns="0" wrap="square"/>
          <a:lstStyle/>
          <a:p>
            <a:pPr algn="l">
              <a:buNone/>
            </a:pPr>
            <a:r>
              <a:rPr lang="en-US" sz="5400" dirty="0">
                <a:solidFill>
                  <a:srgbClr val="000000"/>
                </a:solidFill>
                <a:latin typeface="Lexend"/>
                <a:cs typeface="Lexend"/>
              </a:rPr>
              <a:t>75%</a:t>
            </a:r>
            <a:endParaRPr lang="en-US" sz="5400"/>
          </a:p>
        </p:txBody>
      </p:sp>
      <p:sp>
        <p:nvSpPr>
          <p:cNvPr id="79" name="TextBox 79"/>
          <p:cNvSpPr txBox="1">
            <a:spLocks noGrp="1"/>
          </p:cNvSpPr>
          <p:nvPr/>
        </p:nvSpPr>
        <p:spPr>
          <a:xfrm>
            <a:off x="9098280" y="4251960"/>
            <a:ext cx="2697480" cy="685800"/>
          </a:xfrm>
          <a:prstGeom prst="rect">
            <a:avLst/>
          </a:prstGeom>
          <a:noFill/>
        </p:spPr>
        <p:txBody>
          <a:bodyPr lIns="0" tIns="0" rIns="0" bIns="0" wrap="square"/>
          <a:lstStyle/>
          <a:p>
            <a:pPr algn="l">
              <a:buNone/>
            </a:pPr>
            <a:r>
              <a:rPr lang="en-US" sz="1300" dirty="0">
                <a:solidFill>
                  <a:srgbClr val="000000"/>
                </a:solidFill>
                <a:latin typeface="Poppins"/>
                <a:cs typeface="Poppins"/>
              </a:rPr>
              <a:t>at 16 nodes (Polaris: 80% at 8)</a:t>
            </a:r>
            <a:endParaRPr lang="en-US" sz="13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algn="l">
              <a:buNone/>
            </a:pPr>
            <a:r>
              <a:rPr lang="en-US" sz="1200" dirty="0">
                <a:solidFill>
                  <a:srgbClr val="000000"/>
                </a:solidFill>
                <a:latin typeface="Lexend"/>
                <a:cs typeface="Lexend"/>
              </a:rPr>
              <a:t>CCS 2026 · Sharma &amp; Knepley</a:t>
            </a:r>
            <a:endParaRPr lang="en-US" sz="1200"/>
          </a:p>
        </p:txBody>
      </p:sp>
      <p:sp>
        <p:nvSpPr>
          <p:cNvPr id="3" name="Text 1"/>
          <p:cNvSpPr/>
          <p:nvPr/>
        </p:nvSpPr>
        <p:spPr>
          <a:xfrm>
            <a:off x="394106" y="6320333"/>
            <a:ext cx="5486400" cy="312725"/>
          </a:xfrm>
          <a:prstGeom prst="rect">
            <a:avLst/>
          </a:prstGeom>
          <a:noFill/>
          <a:ln/>
        </p:spPr>
        <p:txBody>
          <a:bodyPr wrap="square" rtlCol="0" anchor="t"/>
          <a:lstStyle/>
          <a:p>
            <a:pPr algn="l">
              <a:buNone/>
            </a:pPr>
            <a:r>
              <a:rPr lang="en-US" sz="1200" dirty="0">
                <a:solidFill>
                  <a:srgbClr val="000000"/>
                </a:solidFill>
                <a:latin typeface="Poppins"/>
                <a:cs typeface="Poppins"/>
              </a:rPr>
              <a:t>University at Buffalo (SUNY)</a:t>
            </a:r>
            <a:endParaRPr lang="en-US" sz="1200"/>
          </a:p>
        </p:txBody>
      </p:sp>
      <p:sp>
        <p:nvSpPr>
          <p:cNvPr id="4" name="Text 2"/>
          <p:cNvSpPr/>
          <p:nvPr/>
        </p:nvSpPr>
        <p:spPr>
          <a:xfrm>
            <a:off x="8876995" y="6320333"/>
            <a:ext cx="2920594" cy="312725"/>
          </a:xfrm>
          <a:prstGeom prst="rect">
            <a:avLst/>
          </a:prstGeom>
          <a:noFill/>
          <a:ln/>
        </p:spPr>
        <p:txBody>
          <a:bodyPr wrap="square" rtlCol="0" anchor="t"/>
          <a:lstStyle/>
          <a:p>
            <a:pPr algn="r">
              <a:buNone/>
            </a:pPr>
            <a:r>
              <a:rPr lang="en-US" sz="1200" dirty="0">
                <a:solidFill>
                  <a:srgbClr val="000000"/>
                </a:solidFill>
                <a:latin typeface="Poppins"/>
                <a:cs typeface="Poppins"/>
              </a:rPr>
              <a:t>13</a:t>
            </a:r>
            <a:endParaRPr lang="en-US" sz="1200"/>
          </a:p>
        </p:txBody>
      </p:sp>
      <p:sp>
        <p:nvSpPr>
          <p:cNvPr id="25" name="Text 23"/>
          <p:cNvSpPr/>
          <p:nvPr/>
        </p:nvSpPr>
        <p:spPr>
          <a:xfrm>
            <a:off x="612648" y="841248"/>
            <a:ext cx="10972800" cy="777240"/>
          </a:xfrm>
          <a:prstGeom prst="rect">
            <a:avLst/>
          </a:prstGeom>
          <a:noFill/>
          <a:ln/>
        </p:spPr>
        <p:txBody>
          <a:bodyPr wrap="square" rtlCol="0" anchor="t"/>
          <a:lstStyle/>
          <a:p>
            <a:pPr algn="l">
              <a:buNone/>
            </a:pPr>
            <a:r>
              <a:rPr lang="en-US" sz="4000" dirty="0">
                <a:solidFill>
                  <a:srgbClr val="03BA81"/>
                </a:solidFill>
                <a:latin typeface="Lexend"/>
                <a:cs typeface="Lexend"/>
              </a:rPr>
              <a:t>Strong scaling: </a:t>
            </a:r>
            <a:r>
              <a:rPr lang="en-US" sz="4000" dirty="0">
                <a:solidFill>
                  <a:srgbClr val="000000"/>
                </a:solidFill>
                <a:latin typeface="Lexend"/>
                <a:cs typeface="Lexend"/>
              </a:rPr>
              <a:t>fixed problem</a:t>
            </a:r>
            <a:endParaRPr lang="en-US" sz="4000"/>
          </a:p>
        </p:txBody>
      </p:sp>
      <p:sp>
        <p:nvSpPr>
          <p:cNvPr id="26" name="Shape 24"/>
          <p:cNvSpPr/>
          <p:nvPr/>
        </p:nvSpPr>
        <p:spPr>
          <a:xfrm>
            <a:off x="612648" y="658368"/>
            <a:ext cx="1273759" cy="102413"/>
          </a:xfrm>
          <a:prstGeom prst="roundRect">
            <a:avLst>
              <a:gd name="adj" fmla="val 50000"/>
            </a:avLst>
          </a:prstGeom>
          <a:solidFill>
            <a:srgbClr val="03BA81"/>
          </a:solidFill>
          <a:ln/>
        </p:spPr>
      </p:sp>
      <p:pic>
        <p:nvPicPr>
          <p:cNvPr id="70" name="Picture 70" descr="Strong scaling of a fixed 9.83M-particle problem: wall time and efficiency vs nodes on Aurora and Polaris"/>
          <p:cNvPicPr>
            <a:picLocks noChangeAspect="1"/>
          </p:cNvPicPr>
          <p:nvPr/>
        </p:nvPicPr>
        <p:blipFill>
          <a:blip r:embed="rIdP4a"/>
          <a:stretch>
            <a:fillRect/>
          </a:stretch>
        </p:blipFill>
        <p:spPr>
          <a:xfrm>
            <a:off x="883768" y="1645920"/>
            <a:ext cx="10424160" cy="3980134"/>
          </a:xfrm>
          <a:prstGeom prst="rect">
            <a:avLst/>
          </a:prstGeom>
        </p:spPr>
      </p:pic>
      <p:sp>
        <p:nvSpPr>
          <p:cNvPr id="75" name="TextBox 75"/>
          <p:cNvSpPr txBox="1">
            <a:spLocks noGrp="1"/>
          </p:cNvSpPr>
          <p:nvPr/>
        </p:nvSpPr>
        <p:spPr>
          <a:xfrm>
            <a:off x="612648" y="5669280"/>
            <a:ext cx="10972800" cy="594360"/>
          </a:xfrm>
          <a:prstGeom prst="rect">
            <a:avLst/>
          </a:prstGeom>
          <a:noFill/>
        </p:spPr>
        <p:txBody>
          <a:bodyPr lIns="0" tIns="0" rIns="0" bIns="0" wrap="square"/>
          <a:lstStyle/>
          <a:p>
            <a:pPr algn="l">
              <a:buNone/>
            </a:pPr>
            <a:r>
              <a:rPr lang="en-US" sz="1400" dirty="0" b="1">
                <a:solidFill>
                  <a:srgbClr val="03BA81"/>
                </a:solidFill>
                <a:latin typeface="Poppins"/>
                <a:cs typeface="Poppins"/>
              </a:rPr>
              <a:t>9.83 M particles, 100 steps: </a:t>
            </a:r>
            <a:r>
              <a:rPr lang="en-US" sz="1400" dirty="0">
                <a:solidFill>
                  <a:srgbClr val="000000"/>
                </a:solidFill>
                <a:latin typeface="Poppins"/>
                <a:cs typeface="Poppins"/>
              </a:rPr>
              <a:t>Aurora 4.63× at 16 nodes (only 32 cells per rank left); Polaris 5.38× at 8 nodes.</a:t>
            </a:r>
            <a:endParaRPr lang="en-US" sz="14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algn="l">
              <a:buNone/>
            </a:pPr>
            <a:r>
              <a:rPr lang="en-US" sz="1200" dirty="0">
                <a:solidFill>
                  <a:srgbClr val="000000"/>
                </a:solidFill>
                <a:latin typeface="Lexend"/>
                <a:cs typeface="Lexend"/>
              </a:rPr>
              <a:t>CCS 2026 · Sharma &amp; Knepley</a:t>
            </a:r>
            <a:endParaRPr lang="en-US" sz="1200"/>
          </a:p>
        </p:txBody>
      </p:sp>
      <p:sp>
        <p:nvSpPr>
          <p:cNvPr id="3" name="Text 1"/>
          <p:cNvSpPr/>
          <p:nvPr/>
        </p:nvSpPr>
        <p:spPr>
          <a:xfrm>
            <a:off x="394106" y="6320333"/>
            <a:ext cx="5486400" cy="312725"/>
          </a:xfrm>
          <a:prstGeom prst="rect">
            <a:avLst/>
          </a:prstGeom>
          <a:noFill/>
          <a:ln/>
        </p:spPr>
        <p:txBody>
          <a:bodyPr wrap="square" rtlCol="0" anchor="t"/>
          <a:lstStyle/>
          <a:p>
            <a:pPr algn="l">
              <a:buNone/>
            </a:pPr>
            <a:r>
              <a:rPr lang="en-US" sz="1200" dirty="0">
                <a:solidFill>
                  <a:srgbClr val="000000"/>
                </a:solidFill>
                <a:latin typeface="Poppins"/>
                <a:cs typeface="Poppins"/>
              </a:rPr>
              <a:t>University at Buffalo (SUNY)</a:t>
            </a:r>
            <a:endParaRPr lang="en-US" sz="1200"/>
          </a:p>
        </p:txBody>
      </p:sp>
      <p:sp>
        <p:nvSpPr>
          <p:cNvPr id="4" name="Text 2"/>
          <p:cNvSpPr/>
          <p:nvPr/>
        </p:nvSpPr>
        <p:spPr>
          <a:xfrm>
            <a:off x="8876995" y="6320333"/>
            <a:ext cx="2920594" cy="312725"/>
          </a:xfrm>
          <a:prstGeom prst="rect">
            <a:avLst/>
          </a:prstGeom>
          <a:noFill/>
          <a:ln/>
        </p:spPr>
        <p:txBody>
          <a:bodyPr wrap="square" rtlCol="0" anchor="t"/>
          <a:lstStyle/>
          <a:p>
            <a:pPr algn="r">
              <a:buNone/>
            </a:pPr>
            <a:r>
              <a:rPr lang="en-US" sz="1200" dirty="0">
                <a:solidFill>
                  <a:srgbClr val="000000"/>
                </a:solidFill>
                <a:latin typeface="Poppins"/>
                <a:cs typeface="Poppins"/>
              </a:rPr>
              <a:t>11</a:t>
            </a:r>
            <a:endParaRPr lang="en-US" sz="1200"/>
          </a:p>
        </p:txBody>
      </p:sp>
      <p:sp>
        <p:nvSpPr>
          <p:cNvPr id="25" name="Text 23"/>
          <p:cNvSpPr/>
          <p:nvPr/>
        </p:nvSpPr>
        <p:spPr>
          <a:xfrm>
            <a:off x="612648" y="841248"/>
            <a:ext cx="10972800" cy="777240"/>
          </a:xfrm>
          <a:prstGeom prst="rect">
            <a:avLst/>
          </a:prstGeom>
          <a:noFill/>
          <a:ln/>
        </p:spPr>
        <p:txBody>
          <a:bodyPr wrap="square" rtlCol="0" anchor="t"/>
          <a:lstStyle/>
          <a:p>
            <a:pPr algn="l">
              <a:buNone/>
            </a:pPr>
            <a:r>
              <a:rPr lang="en-US" sz="4000" dirty="0">
                <a:solidFill>
                  <a:srgbClr val="03BA81"/>
                </a:solidFill>
                <a:latin typeface="Lexend"/>
                <a:cs typeface="Lexend"/>
              </a:rPr>
              <a:t>Long runs: </a:t>
            </a:r>
            <a:r>
              <a:rPr lang="en-US" sz="4000" dirty="0">
                <a:solidFill>
                  <a:srgbClr val="000000"/>
                </a:solidFill>
                <a:latin typeface="Lexend"/>
                <a:cs typeface="Lexend"/>
              </a:rPr>
              <a:t>pushers hold, PIC heats</a:t>
            </a:r>
            <a:endParaRPr lang="en-US" sz="4000"/>
          </a:p>
        </p:txBody>
      </p:sp>
      <p:sp>
        <p:nvSpPr>
          <p:cNvPr id="26" name="Shape 24"/>
          <p:cNvSpPr/>
          <p:nvPr/>
        </p:nvSpPr>
        <p:spPr>
          <a:xfrm>
            <a:off x="612648" y="658368"/>
            <a:ext cx="1273759" cy="102413"/>
          </a:xfrm>
          <a:prstGeom prst="roundRect">
            <a:avLst>
              <a:gd name="adj" fmla="val 50000"/>
            </a:avLst>
          </a:prstGeom>
          <a:solidFill>
            <a:srgbClr val="03BA81"/>
          </a:solidFill>
          <a:ln/>
        </p:spPr>
      </p:sp>
      <p:pic>
        <p:nvPicPr>
          <p:cNvPr id="70" name="Picture 70" descr="Particle pushers over 10^8 steps: energy and momentum error for Boris, RK4 and TSDISCGRAD"/>
          <p:cNvPicPr>
            <a:picLocks noChangeAspect="1"/>
          </p:cNvPicPr>
          <p:nvPr/>
        </p:nvPicPr>
        <p:blipFill>
          <a:blip r:embed="rIdP4b"/>
          <a:stretch>
            <a:fillRect/>
          </a:stretch>
        </p:blipFill>
        <p:spPr>
          <a:xfrm>
            <a:off x="457200" y="1645920"/>
            <a:ext cx="5172891" cy="3291840"/>
          </a:xfrm>
          <a:prstGeom prst="rect">
            <a:avLst/>
          </a:prstGeom>
        </p:spPr>
      </p:pic>
      <p:pic>
        <p:nvPicPr>
          <p:cNvPr id="71" name="Picture 71" descr="Long-run Landau damping on Aurora and Polaris: field amplitude and total-energy error"/>
          <p:cNvPicPr>
            <a:picLocks noChangeAspect="1"/>
          </p:cNvPicPr>
          <p:nvPr/>
        </p:nvPicPr>
        <p:blipFill>
          <a:blip r:embed="rIdP4c"/>
          <a:stretch>
            <a:fillRect/>
          </a:stretch>
        </p:blipFill>
        <p:spPr>
          <a:xfrm>
            <a:off x="5812971" y="1812145"/>
            <a:ext cx="5918781" cy="2959390"/>
          </a:xfrm>
          <a:prstGeom prst="rect">
            <a:avLst/>
          </a:prstGeom>
        </p:spPr>
      </p:pic>
      <p:sp>
        <p:nvSpPr>
          <p:cNvPr id="72" name="TextBox 72"/>
          <p:cNvSpPr txBox="1">
            <a:spLocks noGrp="1"/>
          </p:cNvSpPr>
          <p:nvPr/>
        </p:nvSpPr>
        <p:spPr>
          <a:xfrm>
            <a:off x="457200" y="5074920"/>
            <a:ext cx="5172891" cy="1188720"/>
          </a:xfrm>
          <a:prstGeom prst="rect">
            <a:avLst/>
          </a:prstGeom>
          <a:noFill/>
        </p:spPr>
        <p:txBody>
          <a:bodyPr lIns="0" tIns="0" rIns="0" bIns="0" wrap="square"/>
          <a:lstStyle/>
          <a:p>
            <a:pPr algn="l">
              <a:buNone/>
            </a:pPr>
            <a:r>
              <a:rPr lang="en-US" sz="1300" dirty="0" b="1">
                <a:solidFill>
                  <a:srgbClr val="03BA81"/>
                </a:solidFill>
                <a:latin typeface="Poppins"/>
                <a:cs typeface="Poppins"/>
              </a:rPr>
              <a:t>Pushers, 10</a:t>
            </a:r>
            <a:r>
              <a:rPr lang="en-US" sz="1300" dirty="0" b="1" baseline="30000">
                <a:solidFill>
                  <a:srgbClr val="03BA81"/>
                </a:solidFill>
                <a:latin typeface="Poppins"/>
                <a:cs typeface="Poppins"/>
              </a:rPr>
              <a:t>8</a:t>
            </a:r>
            <a:r>
              <a:rPr lang="en-US" sz="1300" dirty="0" b="1">
                <a:solidFill>
                  <a:srgbClr val="03BA81"/>
                </a:solidFill>
                <a:latin typeface="Poppins"/>
                <a:cs typeface="Poppins"/>
              </a:rPr>
              <a:t> steps: </a:t>
            </a:r>
            <a:r>
              <a:rPr lang="en-US" sz="1300" dirty="0">
                <a:solidFill>
                  <a:srgbClr val="000000"/>
                </a:solidFill>
                <a:latin typeface="Poppins"/>
                <a:cs typeface="Poppins"/>
              </a:rPr>
              <a:t>Boris bounded (1.2×10</a:t>
            </a:r>
            <a:r>
              <a:rPr lang="en-US" sz="1300" dirty="0" baseline="30000">
                <a:solidFill>
                  <a:srgbClr val="000000"/>
                </a:solidFill>
                <a:latin typeface="Poppins"/>
                <a:cs typeface="Poppins"/>
              </a:rPr>
              <a:t>−12</a:t>
            </a:r>
            <a:r>
              <a:rPr lang="en-US" sz="1300" dirty="0">
                <a:solidFill>
                  <a:srgbClr val="000000"/>
                </a:solidFill>
                <a:latin typeface="Poppins"/>
                <a:cs typeface="Poppins"/>
              </a:rPr>
              <a:t>); RK4 drifts 28%. TSDISCGRAD stalled.</a:t>
            </a:r>
            <a:endParaRPr lang="en-US" sz="1300"/>
          </a:p>
        </p:txBody>
      </p:sp>
      <p:sp>
        <p:nvSpPr>
          <p:cNvPr id="73" name="TextBox 73"/>
          <p:cNvSpPr txBox="1">
            <a:spLocks noGrp="1"/>
          </p:cNvSpPr>
          <p:nvPr/>
        </p:nvSpPr>
        <p:spPr>
          <a:xfrm>
            <a:off x="5812971" y="5074920"/>
            <a:ext cx="5918781" cy="1188720"/>
          </a:xfrm>
          <a:prstGeom prst="rect">
            <a:avLst/>
          </a:prstGeom>
          <a:noFill/>
        </p:spPr>
        <p:txBody>
          <a:bodyPr lIns="0" tIns="0" rIns="0" bIns="0" wrap="square"/>
          <a:lstStyle/>
          <a:p>
            <a:pPr algn="l">
              <a:buNone/>
            </a:pPr>
            <a:r>
              <a:rPr lang="en-US" sz="1300" dirty="0" b="1">
                <a:solidFill>
                  <a:srgbClr val="03BA81"/>
                </a:solidFill>
                <a:latin typeface="Poppins"/>
                <a:cs typeface="Poppins"/>
              </a:rPr>
              <a:t>Landau PIC: </a:t>
            </a:r>
            <a:r>
              <a:rPr lang="en-US" sz="1300" dirty="0">
                <a:solidFill>
                  <a:srgbClr val="000000"/>
                </a:solidFill>
                <a:latin typeface="Poppins"/>
                <a:cs typeface="Poppins"/>
              </a:rPr>
              <a:t>energy error flat ~10</a:t>
            </a:r>
            <a:r>
              <a:rPr lang="en-US" sz="1300" dirty="0" baseline="30000">
                <a:solidFill>
                  <a:srgbClr val="000000"/>
                </a:solidFill>
                <a:latin typeface="Poppins"/>
                <a:cs typeface="Poppins"/>
              </a:rPr>
              <a:t>−4</a:t>
            </a:r>
            <a:r>
              <a:rPr lang="en-US" sz="1300" dirty="0">
                <a:solidFill>
                  <a:srgbClr val="000000"/>
                </a:solidFill>
                <a:latin typeface="Poppins"/>
                <a:cs typeface="Poppins"/>
              </a:rPr>
              <a:t>, then heats to 4.4×10</a:t>
            </a:r>
            <a:r>
              <a:rPr lang="en-US" sz="1300" dirty="0" baseline="30000">
                <a:solidFill>
                  <a:srgbClr val="000000"/>
                </a:solidFill>
                <a:latin typeface="Poppins"/>
                <a:cs typeface="Poppins"/>
              </a:rPr>
              <a:t>−3</a:t>
            </a:r>
            <a:r>
              <a:rPr lang="en-US" sz="1300" dirty="0">
                <a:solidFill>
                  <a:srgbClr val="000000"/>
                </a:solidFill>
                <a:latin typeface="Poppins"/>
                <a:cs typeface="Poppins"/>
              </a:rPr>
              <a:t> by t = 300</a:t>
            </a:r>
            <a:endParaRPr lang="en-US" sz="13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exe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exe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Lexend</vt:lpstr>
      <vt:lpstr>Poppins</vt:lpstr>
      <vt:lpstr>Office Theme</vt:lpstr>
      <vt:lpstr>Generative AI for Scalable and Structure-Preserving Plasma Simulations</vt:lpstr>
      <vt:lpstr>Plasma is a hard complex system</vt:lpstr>
      <vt:lpstr>Conservation is the problem</vt:lpstr>
      <vt:lpstr>RK4 drifts; structure holds</vt:lpstr>
      <vt:lpstr>A trap we found: wrong structure</vt:lpstr>
      <vt:lpstr>div B = 0 at round-off</vt:lpstr>
      <vt:lpstr>One orchestrator, four specialists</vt:lpstr>
      <vt:lpstr>Every code must prove it conserves</vt:lpstr>
      <vt:lpstr>Agent-written solvers that verify</vt:lpstr>
      <vt:lpstr>Kinetic plasma on Aurora &amp; Polaris</vt:lpstr>
      <vt:lpstr>Long runs: pushers hold, PIC heats</vt:lpstr>
      <vt:lpstr>Weak scaling: fixed, then 64 nodes</vt:lpstr>
      <vt:lpstr>Strong scaling: fixed problem</vt:lpstr>
      <vt:lpstr>Takeaways &amp; 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Generative AI for Scalable and Structure-Preserving Plasma Simulations</dc:title>
  <dc:subject>CCS 2026 talk</dc:subject>
  <dc:creator>Sarthak Sharma</dc:creator>
  <cp:lastModifiedBy>Sarthak Sharma</cp:lastModifiedBy>
  <cp:revision>1</cp:revision>
  <dcterms:created xsi:type="dcterms:W3CDTF">2026-10-12T06:05:25Z</dcterms:created>
  <dcterms:modified xsi:type="dcterms:W3CDTF">2026-10-12T21:00:00Z</dcterms:modified>
</cp:coreProperties>
</file>